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4"/>
  </p:sldMasterIdLst>
  <p:notesMasterIdLst>
    <p:notesMasterId r:id="rId13"/>
  </p:notesMasterIdLst>
  <p:sldIdLst>
    <p:sldId id="412" r:id="rId5"/>
    <p:sldId id="400" r:id="rId6"/>
    <p:sldId id="408" r:id="rId7"/>
    <p:sldId id="409" r:id="rId8"/>
    <p:sldId id="410" r:id="rId9"/>
    <p:sldId id="413" r:id="rId10"/>
    <p:sldId id="411" r:id="rId11"/>
    <p:sldId id="399" r:id="rId1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9D9D9"/>
    <a:srgbClr val="FEF8BE"/>
    <a:srgbClr val="B8CCE4"/>
    <a:srgbClr val="7693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0" d="100"/>
          <a:sy n="70" d="100"/>
        </p:scale>
        <p:origin x="158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9ECDAD-75E1-4BC4-AB86-9BA5DFF857B3}" type="datetimeFigureOut">
              <a:rPr lang="en-GB" smtClean="0"/>
              <a:t>13/05/2026</a:t>
            </a:fld>
            <a:endParaRPr lang="en-GB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BAA5E4-F832-4E78-BDC0-6CAA09567E07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54866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B8136-4330-4480-80D9-0F6FD97061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6072" y="1124712"/>
            <a:ext cx="11036808" cy="3172968"/>
          </a:xfrm>
        </p:spPr>
        <p:txBody>
          <a:bodyPr anchor="b">
            <a:normAutofit/>
          </a:bodyPr>
          <a:lstStyle>
            <a:lvl1pPr algn="l">
              <a:defRPr sz="8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66E5739-DD96-45FB-B609-3E3447A52F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6072" y="4727448"/>
            <a:ext cx="11036808" cy="1481328"/>
          </a:xfrm>
        </p:spPr>
        <p:txBody>
          <a:bodyPr>
            <a:normAutofit/>
          </a:bodyPr>
          <a:lstStyle>
            <a:lvl1pPr marL="0" indent="0" algn="l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FF558-51F9-42A2-9944-DBE23DA8B22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76072" y="6356350"/>
            <a:ext cx="2743200" cy="365125"/>
          </a:xfrm>
        </p:spPr>
        <p:txBody>
          <a:bodyPr/>
          <a:lstStyle/>
          <a:p>
            <a:fld id="{31DCF8F9-FE1E-467E-9B82-0FEB758F2FA6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8C0E86-A7F7-4BDC-A637-254E5252D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10ADE-E9DA-4E57-BF57-1CCB652198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9680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6CE56-3881-4ADA-8CEF-D18B02C242A3}"/>
              </a:ext>
            </a:extLst>
          </p:cNvPr>
          <p:cNvSpPr/>
          <p:nvPr/>
        </p:nvSpPr>
        <p:spPr>
          <a:xfrm rot="5400000">
            <a:off x="857544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F3C543-62EC-4433-9C93-A2CD8764E9B4}"/>
              </a:ext>
            </a:extLst>
          </p:cNvPr>
          <p:cNvSpPr/>
          <p:nvPr/>
        </p:nvSpPr>
        <p:spPr>
          <a:xfrm flipV="1">
            <a:off x="578652" y="4501201"/>
            <a:ext cx="11034696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0959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D6FBB9D-1CAA-4D05-AB33-BABDFE17B843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27B71-B4B6-4823-80A1-68C40B475118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A6DB05-9FB5-4B07-8675-74C23D4FD89D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D358CF-0758-490A-A084-C46443B9A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71183-B3CE-4F45-92FB-98290CA0E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78024"/>
            <a:ext cx="10168128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DED67-27EC-4D43-A21C-093C1DB048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6219CF75-0ECC-4E76-B636-3ABF46261502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747CE3-4890-4BC1-94DB-5D49D02C99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3C5AD3-D79A-4D46-B25B-822FE0252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978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5AEDC5C-2E87-49C6-AB07-A95E5F39ED8E}"/>
              </a:ext>
            </a:extLst>
          </p:cNvPr>
          <p:cNvSpPr/>
          <p:nvPr/>
        </p:nvSpPr>
        <p:spPr>
          <a:xfrm>
            <a:off x="558210" y="4981421"/>
            <a:ext cx="11134956" cy="82296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7D88DE-E462-4C8A-BF99-609390DFB781}"/>
              </a:ext>
            </a:extLst>
          </p:cNvPr>
          <p:cNvSpPr/>
          <p:nvPr/>
        </p:nvSpPr>
        <p:spPr>
          <a:xfrm>
            <a:off x="498834" y="5118581"/>
            <a:ext cx="146304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E44900-E8BF-4B12-8BCB-41076E2B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784" y="640080"/>
            <a:ext cx="10890504" cy="4114800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7741F9-B00F-4463-A257-6B66DABD9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1248" y="5102352"/>
            <a:ext cx="10607040" cy="585216"/>
          </a:xfrm>
        </p:spPr>
        <p:txBody>
          <a:bodyPr anchor="ctr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8BFA7D-4401-4285-802B-1579165F0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14E8BD-E6E8-42B0-9E1C-58D2F9C64A0C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909C5-AA19-4195-8376-9002D5DF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AC3F32-46E0-47C8-8565-5969A475F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3331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076262E-36A0-40C6-ADE6-90CD9FB9B9EA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42677A9B-4D1D-4D80-912C-24570140A650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DC8C98-510F-48C9-82B2-9E4F760A68DF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7A078AE-0BC3-48F9-87EC-2DB0CCE7E2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2A20DF-0829-4336-B59F-FF9D7AA9D8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15568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5D01C-CF67-4DF6-B96C-FFC9D5BF84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45936" y="2478024"/>
            <a:ext cx="4937760" cy="369417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BBD797-6031-4F82-8726-EAB757027FF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D7AFBA47-0BC8-4C75-9B10-88B9F496CCB1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B3F71C-B897-4909-A75E-8716AD49C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78BC14-5BB1-405F-A6F3-C07230F0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9323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B671BDE-E45C-41A1-9B98-4A607D703855}"/>
              </a:ext>
            </a:extLst>
          </p:cNvPr>
          <p:cNvSpPr/>
          <p:nvPr/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299500CE-917A-4D03-A7DF-71D8EBBC1537}"/>
              </a:ext>
            </a:extLst>
          </p:cNvPr>
          <p:cNvSpPr/>
          <p:nvPr/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D0D377-28B0-417D-886B-9483AF064975}"/>
              </a:ext>
            </a:extLst>
          </p:cNvPr>
          <p:cNvSpPr/>
          <p:nvPr/>
        </p:nvSpPr>
        <p:spPr>
          <a:xfrm>
            <a:off x="498834" y="787352"/>
            <a:ext cx="128016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8F91F8-0767-40B5-A3AA-72931FC19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AE0554-8BEE-4BF6-9519-51B8475D35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15568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4A358D-C930-48E0-B372-06A826B74C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15568" y="3203688"/>
            <a:ext cx="4937760" cy="296851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3B6615E-4966-4150-83B6-C47591B363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45936" y="2372650"/>
            <a:ext cx="4937760" cy="823912"/>
          </a:xfrm>
        </p:spPr>
        <p:txBody>
          <a:bodyPr anchor="b"/>
          <a:lstStyle>
            <a:lvl1pPr marL="0" indent="0">
              <a:buNone/>
              <a:defRPr sz="24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09F6B-C17B-4B4F-9F35-5068BDC4E2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45936" y="3203687"/>
            <a:ext cx="4937760" cy="296851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8BC356D-052B-4A9B-8B2F-6665FD325A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15568" y="6356350"/>
            <a:ext cx="2743200" cy="365125"/>
          </a:xfrm>
        </p:spPr>
        <p:txBody>
          <a:bodyPr/>
          <a:lstStyle/>
          <a:p>
            <a:fld id="{84512E72-AC33-43BA-BEE9-4FD4948C58D8}" type="datetime1">
              <a:rPr lang="en-US" smtClean="0"/>
              <a:t>5/13/2026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C5E5FA-26A9-467C-93E3-8476142D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79E50C-1E40-4B48-871B-E392428D20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0496" y="6356350"/>
            <a:ext cx="2743200" cy="365125"/>
          </a:xfrm>
        </p:spPr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174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8C0689C4-0DB3-408B-A956-40326B4AE4C4}"/>
              </a:ext>
            </a:extLst>
          </p:cNvPr>
          <p:cNvSpPr/>
          <p:nvPr/>
        </p:nvSpPr>
        <p:spPr>
          <a:xfrm>
            <a:off x="665853" y="1533525"/>
            <a:ext cx="10917063" cy="3790950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2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E1D10E-1C30-41BF-8C3B-C460C9B5597B}"/>
              </a:ext>
            </a:extLst>
          </p:cNvPr>
          <p:cNvSpPr/>
          <p:nvPr/>
        </p:nvSpPr>
        <p:spPr>
          <a:xfrm>
            <a:off x="609084" y="2971798"/>
            <a:ext cx="128016" cy="914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9454F2-0EE5-4888-AF4C-82F825E622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992" y="1938528"/>
            <a:ext cx="10177272" cy="2990088"/>
          </a:xfrm>
        </p:spPr>
        <p:txBody>
          <a:bodyPr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C91241-A315-4643-91E5-CF2C25CC9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376718-59A8-49B1-AEC5-3662572A144D}" type="datetime1">
              <a:rPr lang="en-US" smtClean="0"/>
              <a:t>5/13/2026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706D86-5479-487D-94C8-76093D84F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739411-CED6-43D4-868D-A65C4161A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45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AC447E0-1D4D-4EF2-B81B-4B2400EE3E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4EC767-5C82-4733-81D6-0B6B22CAF0EE}" type="datetime1">
              <a:rPr lang="en-US" smtClean="0"/>
              <a:t>5/13/2026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984CA0-2A78-4600-9F3D-19B09E790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40955-B18E-49D3-AE7B-B331200E34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5452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FA417FE-CD1A-486F-A4AC-E4000A2FB18E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18F0F5-812B-472C-9408-B80F2553F5E0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F7751B-CD8F-4F5B-A903-1DCE5D1E8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55C8A-A0BB-441D-976F-EB56D4382D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192" y="1709928"/>
            <a:ext cx="6729984" cy="409651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6A51-A2E5-4BFA-B571-9FDFE1BBFB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29000"/>
            <a:ext cx="3099816" cy="2066544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92778A-DD4C-4651-9C53-8B0C44CD88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E4D41E06-6C86-4754-846D-56519DFF1F50}" type="datetime1">
              <a:rPr lang="en-US" smtClean="0"/>
              <a:t>5/13/2026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6C7F66-2DFA-4146-BE1A-CE2890FE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85D185-B1B6-4D62-81BE-BE82C80AC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660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68B77B5-211C-456E-B79F-306CC3619347}"/>
              </a:ext>
            </a:extLst>
          </p:cNvPr>
          <p:cNvSpPr/>
          <p:nvPr/>
        </p:nvSpPr>
        <p:spPr>
          <a:xfrm>
            <a:off x="558210" y="1162033"/>
            <a:ext cx="3740740" cy="4643344"/>
          </a:xfrm>
          <a:prstGeom prst="rect">
            <a:avLst/>
          </a:prstGeom>
          <a:ln w="12700">
            <a:solidFill>
              <a:schemeClr val="tx2">
                <a:lumMod val="10000"/>
                <a:lumOff val="90000"/>
              </a:schemeClr>
            </a:solidFill>
          </a:ln>
          <a:effectLst>
            <a:outerShdw blurRad="50800" dist="38100" dir="2700000" algn="tl" rotWithShape="0">
              <a:schemeClr val="bg1">
                <a:lumMod val="85000"/>
                <a:alpha val="3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B63C338-194D-4F23-ABEC-60A7EA96F302}"/>
              </a:ext>
            </a:extLst>
          </p:cNvPr>
          <p:cNvSpPr/>
          <p:nvPr/>
        </p:nvSpPr>
        <p:spPr>
          <a:xfrm>
            <a:off x="498834" y="1618375"/>
            <a:ext cx="146304" cy="8229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C04DCC-0E3E-4F05-9FAC-9FA6CA4B2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1709928"/>
            <a:ext cx="3099816" cy="1709928"/>
          </a:xfrm>
        </p:spPr>
        <p:txBody>
          <a:bodyPr tIns="45720" anchor="t">
            <a:normAutofit/>
          </a:bodyPr>
          <a:lstStyle>
            <a:lvl1pPr>
              <a:lnSpc>
                <a:spcPct val="100000"/>
              </a:lnSpc>
              <a:defRPr sz="3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A29649-B19F-499E-8E9A-3577EAC8F0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65192" y="1161288"/>
            <a:ext cx="6729984" cy="4645152"/>
          </a:xfrm>
        </p:spPr>
        <p:txBody>
          <a:bodyPr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C9EF2E-A8CD-41A1-B11A-0D8842797A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68680" y="3438144"/>
            <a:ext cx="3099816" cy="20574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257B5-0DE0-401F-9171-E8687A97DB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8680" y="6356350"/>
            <a:ext cx="2743200" cy="365125"/>
          </a:xfrm>
        </p:spPr>
        <p:txBody>
          <a:bodyPr/>
          <a:lstStyle/>
          <a:p>
            <a:fld id="{6D8A39B2-B176-40DF-B22F-280C511548AF}" type="datetime1">
              <a:rPr lang="en-US" smtClean="0"/>
              <a:t>5/13/2026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CD9AD-D667-4FD4-AA34-428AA0BCD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70FB6-F273-4BA6-8B97-9835AC537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4208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32C18-E430-4EC7-BD7C-99D86D012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C5012F-7119-4D94-9717-3862E1C938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ED9A4A-D287-4207-9037-70DB007A1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AAE393-D011-4B55-A9B6-0BBC79EF96B0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ECFCAC-80DB-43BB-B3F1-AC22BACE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79730-3487-4D94-A0DC-C21684963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9552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43C89D-929E-4CD1-BCCC-72A14C0335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D450EA-A577-4B76-A12F-650BEB20FD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D2603B-9ACE-4FA9-805B-9B91EB63D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D0C2F-F497-4247-8BB2-5746400D850B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CE18AC-D6A9-4A61-885D-68E2B684A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7AE4-AA47-4E14-8FFE-171FAE47F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891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325BDE-35A4-4AAD-960B-C1415864A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59C78-0CC4-4552-93DD-49B4194D00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744A3C-9C54-46A6-B3EF-5B36362423E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BAA1BC-C245-4537-A704-02F8919D151B}" type="datetime1">
              <a:rPr lang="en-US" smtClean="0"/>
              <a:t>5/13/2026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D5A696-7B4B-4181-A961-7D66556D50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038CB5-8F4A-401D-A3A9-B27DC15B7A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DC25EE-239B-4C5F-AAD1-255A7D5F1EE2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580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45CF02-92BA-5A94-2DEC-47F61A7CF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4481272-C222-8968-044D-3BAF0970A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02A8D1-3358-F5F1-4AF0-5F9969CD73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3CA4E186-A056-DACA-6812-E5F007704A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0318A6B-6752-F618-4EF4-1D267178C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EE755042-3AA6-3825-AEC6-571898FD74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429D88-9361-BCC7-DCE3-D5D1408F43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8F60D0DC-CA51-7547-B234-C04A874F0855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XXX-YY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03: Especificacions i Diagrama de Classes</a:t>
            </a:r>
          </a:p>
        </p:txBody>
      </p:sp>
    </p:spTree>
    <p:extLst>
      <p:ext uri="{BB962C8B-B14F-4D97-AF65-F5344CB8AC3E}">
        <p14:creationId xmlns:p14="http://schemas.microsoft.com/office/powerpoint/2010/main" val="751733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2EF9086-B6B4-D19E-C791-6006CEAD6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Composició de l’equip</a:t>
            </a:r>
            <a:r>
              <a:rPr lang="en-GB" dirty="0"/>
              <a:t> 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EDBCED9-7F51-70EF-594E-F7D7A979A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2</a:t>
            </a:fld>
            <a:endParaRPr lang="en-US" dirty="0"/>
          </a:p>
        </p:txBody>
      </p:sp>
      <p:pic>
        <p:nvPicPr>
          <p:cNvPr id="1026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E44A2714-7224-8333-A43B-ECBC3C175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4305" y="2312505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EF9A3A06-2104-6EDD-EE3F-A32528BEC881}"/>
              </a:ext>
            </a:extLst>
          </p:cNvPr>
          <p:cNvSpPr txBox="1"/>
          <p:nvPr/>
        </p:nvSpPr>
        <p:spPr>
          <a:xfrm>
            <a:off x="1155324" y="3638956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Foto membre_1</a:t>
            </a:r>
          </a:p>
          <a:p>
            <a:r>
              <a:rPr lang="es-ES" dirty="0" err="1"/>
              <a:t>Nom</a:t>
            </a:r>
            <a:r>
              <a:rPr lang="es-ES" dirty="0"/>
              <a:t> membre_1</a:t>
            </a:r>
            <a:endParaRPr lang="ca-ES" dirty="0"/>
          </a:p>
        </p:txBody>
      </p:sp>
      <p:pic>
        <p:nvPicPr>
          <p:cNvPr id="8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76D0DF31-D861-FFEE-2974-6C02DD693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851" y="2312505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2701D67B-2047-7EEE-CB49-B2ED590A3D18}"/>
              </a:ext>
            </a:extLst>
          </p:cNvPr>
          <p:cNvSpPr txBox="1"/>
          <p:nvPr/>
        </p:nvSpPr>
        <p:spPr>
          <a:xfrm>
            <a:off x="3776870" y="3638956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Foto membre_2</a:t>
            </a:r>
          </a:p>
          <a:p>
            <a:r>
              <a:rPr lang="es-ES" dirty="0" err="1"/>
              <a:t>Nom</a:t>
            </a:r>
            <a:r>
              <a:rPr lang="es-ES" dirty="0"/>
              <a:t> membre_2</a:t>
            </a:r>
            <a:endParaRPr lang="ca-ES" dirty="0"/>
          </a:p>
        </p:txBody>
      </p:sp>
      <p:pic>
        <p:nvPicPr>
          <p:cNvPr id="10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C58F73A0-EF49-A7B1-C627-75778E026E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74305" y="4472610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CuadroTexto 10">
            <a:extLst>
              <a:ext uri="{FF2B5EF4-FFF2-40B4-BE49-F238E27FC236}">
                <a16:creationId xmlns:a16="http://schemas.microsoft.com/office/drawing/2014/main" id="{AF9E5503-CA01-C76E-286A-F65FDF48A279}"/>
              </a:ext>
            </a:extLst>
          </p:cNvPr>
          <p:cNvSpPr txBox="1"/>
          <p:nvPr/>
        </p:nvSpPr>
        <p:spPr>
          <a:xfrm>
            <a:off x="1155324" y="5799061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Foto membre_3</a:t>
            </a:r>
          </a:p>
          <a:p>
            <a:r>
              <a:rPr lang="es-ES" dirty="0" err="1"/>
              <a:t>Nom</a:t>
            </a:r>
            <a:r>
              <a:rPr lang="es-ES" dirty="0"/>
              <a:t> membre_3</a:t>
            </a:r>
            <a:endParaRPr lang="ca-ES" dirty="0"/>
          </a:p>
        </p:txBody>
      </p:sp>
      <p:pic>
        <p:nvPicPr>
          <p:cNvPr id="12" name="Picture 2" descr="Profile Pictures, The Selfie Precursor Thebenclark, 47% OFF">
            <a:extLst>
              <a:ext uri="{FF2B5EF4-FFF2-40B4-BE49-F238E27FC236}">
                <a16:creationId xmlns:a16="http://schemas.microsoft.com/office/drawing/2014/main" id="{B5B950BB-3356-08FA-D3B8-D5AB267A1B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851" y="4472610"/>
            <a:ext cx="1209260" cy="1209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CuadroTexto 12">
            <a:extLst>
              <a:ext uri="{FF2B5EF4-FFF2-40B4-BE49-F238E27FC236}">
                <a16:creationId xmlns:a16="http://schemas.microsoft.com/office/drawing/2014/main" id="{EFC6393E-84E8-F829-72B0-A2837607CCD5}"/>
              </a:ext>
            </a:extLst>
          </p:cNvPr>
          <p:cNvSpPr txBox="1"/>
          <p:nvPr/>
        </p:nvSpPr>
        <p:spPr>
          <a:xfrm>
            <a:off x="3776870" y="5799061"/>
            <a:ext cx="23191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Foto membre_4</a:t>
            </a:r>
          </a:p>
          <a:p>
            <a:r>
              <a:rPr lang="es-ES" dirty="0" err="1"/>
              <a:t>Nom</a:t>
            </a:r>
            <a:r>
              <a:rPr lang="es-ES" dirty="0"/>
              <a:t> membre_4</a:t>
            </a:r>
            <a:endParaRPr lang="ca-E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5D8E7C1-F3A1-9FFE-E007-5F434203772E}"/>
              </a:ext>
            </a:extLst>
          </p:cNvPr>
          <p:cNvSpPr txBox="1"/>
          <p:nvPr/>
        </p:nvSpPr>
        <p:spPr>
          <a:xfrm>
            <a:off x="6612835" y="3167270"/>
            <a:ext cx="43003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heu d’indicar quin es el </a:t>
            </a:r>
            <a:r>
              <a:rPr lang="ca-ES" dirty="0" err="1"/>
              <a:t>Scrum</a:t>
            </a:r>
            <a:r>
              <a:rPr lang="ca-ES" dirty="0"/>
              <a:t> </a:t>
            </a:r>
            <a:r>
              <a:rPr lang="ca-ES" dirty="0" err="1"/>
              <a:t>Master</a:t>
            </a:r>
            <a:r>
              <a:rPr lang="ca-ES" dirty="0"/>
              <a:t> d’aquest </a:t>
            </a:r>
            <a:r>
              <a:rPr lang="ca-ES" dirty="0" err="1"/>
              <a:t>sprint</a:t>
            </a: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1439967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1FB19B-BC83-28E3-C34F-E477B71C3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6D4BA1-5AB7-B8D9-63F4-F71B31D5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Tasques fetes al sprint</a:t>
            </a:r>
            <a:endParaRPr lang="en-GB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29DCC4B-20F9-8EAA-9C5D-D85FD1DD2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3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C9F3BC3-64C6-DCA9-A993-43956FF851B7}"/>
              </a:ext>
            </a:extLst>
          </p:cNvPr>
          <p:cNvSpPr txBox="1"/>
          <p:nvPr/>
        </p:nvSpPr>
        <p:spPr>
          <a:xfrm>
            <a:off x="428603" y="2198728"/>
            <a:ext cx="100208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volem un llistat general de les tasques que ha fet cadascú al </a:t>
            </a:r>
            <a:r>
              <a:rPr lang="ca-ES" dirty="0" err="1"/>
              <a:t>sprint</a:t>
            </a:r>
            <a:endParaRPr lang="ca-ES" dirty="0"/>
          </a:p>
          <a:p>
            <a:pPr algn="just"/>
            <a:endParaRPr lang="ca-ES" dirty="0"/>
          </a:p>
          <a:p>
            <a:pPr algn="just"/>
            <a:r>
              <a:rPr lang="ca-ES" dirty="0"/>
              <a:t>Per exemple:</a:t>
            </a:r>
          </a:p>
          <a:p>
            <a:pPr algn="just"/>
            <a:endParaRPr lang="ca-ES" dirty="0"/>
          </a:p>
          <a:p>
            <a:pPr algn="just"/>
            <a:r>
              <a:rPr lang="ca-ES" dirty="0"/>
              <a:t>Tasca 1: Especificacions Cas </a:t>
            </a:r>
            <a:r>
              <a:rPr lang="ca-ES" dirty="0" err="1"/>
              <a:t>d’Ùs</a:t>
            </a:r>
            <a:r>
              <a:rPr lang="ca-ES" dirty="0"/>
              <a:t> Fer Comanda (encarregat: Alumne1)</a:t>
            </a:r>
          </a:p>
        </p:txBody>
      </p:sp>
    </p:spTree>
    <p:extLst>
      <p:ext uri="{BB962C8B-B14F-4D97-AF65-F5344CB8AC3E}">
        <p14:creationId xmlns:p14="http://schemas.microsoft.com/office/powerpoint/2010/main" val="3516385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5829A-DA28-0229-A05E-FCE0F2EF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BF99BE-BBF6-B2B3-02F4-217E7C780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a-ES" dirty="0"/>
              <a:t>Diagrama Cas d’Ús final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D58B65D-2614-915C-82AC-99B679A02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4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1C72129-175A-22CE-696F-928ABF46C450}"/>
              </a:ext>
            </a:extLst>
          </p:cNvPr>
          <p:cNvSpPr txBox="1"/>
          <p:nvPr/>
        </p:nvSpPr>
        <p:spPr>
          <a:xfrm>
            <a:off x="428603" y="2198728"/>
            <a:ext cx="10020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volem el diagrama de casos </a:t>
            </a:r>
            <a:r>
              <a:rPr lang="ca-ES" dirty="0" err="1"/>
              <a:t>d’ùs</a:t>
            </a:r>
            <a:r>
              <a:rPr lang="ca-ES" dirty="0"/>
              <a:t> final</a:t>
            </a:r>
          </a:p>
        </p:txBody>
      </p:sp>
    </p:spTree>
    <p:extLst>
      <p:ext uri="{BB962C8B-B14F-4D97-AF65-F5344CB8AC3E}">
        <p14:creationId xmlns:p14="http://schemas.microsoft.com/office/powerpoint/2010/main" val="1943669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A7B62-DBD7-BFDA-7B65-5E67A8D30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4CAEFC-9C4C-51FD-FCC5-CC819E648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Especificacions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1028594-75F6-86C2-9333-4845120C2D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5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933A7ED-18E9-D42B-F297-39B59B5C7F84}"/>
              </a:ext>
            </a:extLst>
          </p:cNvPr>
          <p:cNvSpPr txBox="1"/>
          <p:nvPr/>
        </p:nvSpPr>
        <p:spPr>
          <a:xfrm>
            <a:off x="428603" y="2198728"/>
            <a:ext cx="1126609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secció de la presentació (ha de ser més d’una transparència) volem les especificacions de cada cas d’us, seguint el exemple de la plantilla que teniu aquí. </a:t>
            </a:r>
            <a:r>
              <a:rPr lang="ca-ES" b="1" dirty="0"/>
              <a:t>S’ha de fer una taula d’aquestes per cada cas d’us.</a:t>
            </a:r>
          </a:p>
          <a:p>
            <a:pPr algn="just"/>
            <a:endParaRPr lang="ca-ES" dirty="0"/>
          </a:p>
          <a:p>
            <a:pPr algn="just"/>
            <a:endParaRPr lang="ca-ES" dirty="0"/>
          </a:p>
          <a:p>
            <a:pPr algn="just"/>
            <a:endParaRPr lang="ca-ES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D221197F-1E85-7908-451A-1A59673D6F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3457643"/>
              </p:ext>
            </p:extLst>
          </p:nvPr>
        </p:nvGraphicFramePr>
        <p:xfrm>
          <a:off x="2100387" y="3060700"/>
          <a:ext cx="7922524" cy="30810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03154">
                  <a:extLst>
                    <a:ext uri="{9D8B030D-6E8A-4147-A177-3AD203B41FA5}">
                      <a16:colId xmlns:a16="http://schemas.microsoft.com/office/drawing/2014/main" val="645709654"/>
                    </a:ext>
                  </a:extLst>
                </a:gridCol>
                <a:gridCol w="2598375">
                  <a:extLst>
                    <a:ext uri="{9D8B030D-6E8A-4147-A177-3AD203B41FA5}">
                      <a16:colId xmlns:a16="http://schemas.microsoft.com/office/drawing/2014/main" val="842417822"/>
                    </a:ext>
                  </a:extLst>
                </a:gridCol>
                <a:gridCol w="992607">
                  <a:extLst>
                    <a:ext uri="{9D8B030D-6E8A-4147-A177-3AD203B41FA5}">
                      <a16:colId xmlns:a16="http://schemas.microsoft.com/office/drawing/2014/main" val="4136022570"/>
                    </a:ext>
                  </a:extLst>
                </a:gridCol>
                <a:gridCol w="1928388">
                  <a:extLst>
                    <a:ext uri="{9D8B030D-6E8A-4147-A177-3AD203B41FA5}">
                      <a16:colId xmlns:a16="http://schemas.microsoft.com/office/drawing/2014/main" val="1005851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dirty="0">
                          <a:effectLst/>
                        </a:rPr>
                        <a:t>CAS D’ÚS: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Validar Usuari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3122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000" b="1" kern="0" dirty="0">
                          <a:effectLst/>
                        </a:rPr>
                        <a:t>Versió</a:t>
                      </a:r>
                      <a:endParaRPr lang="ca-ES" sz="1000" b="1" kern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1.0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000" b="1" kern="0" dirty="0">
                          <a:effectLst/>
                        </a:rPr>
                        <a:t>Data</a:t>
                      </a:r>
                      <a:endParaRPr lang="ca-ES" sz="1000" b="1" kern="0" dirty="0"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10/04/2025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extLst>
                  <a:ext uri="{0D108BD9-81ED-4DB2-BD59-A6C34878D82A}">
                    <a16:rowId xmlns:a16="http://schemas.microsoft.com/office/drawing/2014/main" val="42807154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Autors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ES1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1049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Descripció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ca-ES" sz="1100" dirty="0">
                          <a:effectLst/>
                        </a:rPr>
                        <a:t>Aquest cas d’ús descriu com els usuaris accedeixen al sistema de gestió acadèmica. Segons quin usuari sigui (alumne, professor o PAS), tindrà uns privilegis en el sistema i podrà accedir a uns casos d’ús.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67354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>
                          <a:effectLst/>
                        </a:rPr>
                        <a:t>Actors</a:t>
                      </a:r>
                      <a:endParaRPr lang="ca-ES" sz="1000" b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>
                          <a:effectLst/>
                        </a:rPr>
                        <a:t>Alumne, Professor, PAS.</a:t>
                      </a:r>
                      <a:endParaRPr lang="ca-ES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289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 err="1">
                          <a:effectLst/>
                        </a:rPr>
                        <a:t>Precondició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ca-ES" sz="1100">
                          <a:effectLst/>
                        </a:rPr>
                        <a:t> </a:t>
                      </a:r>
                      <a:endParaRPr lang="ca-ES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0124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Flux principal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marL="342900" lvl="0" indent="-342900" algn="just">
                        <a:buFont typeface="+mj-lt"/>
                        <a:buAutoNum type="arabicPeriod"/>
                        <a:tabLst>
                          <a:tab pos="225425" algn="l"/>
                        </a:tabLst>
                      </a:pPr>
                      <a:r>
                        <a:rPr lang="ca-ES" sz="1100">
                          <a:effectLst/>
                        </a:rPr>
                        <a:t>El sistema valida el codi d’usuari i password introduïts.</a:t>
                      </a:r>
                      <a:endParaRPr lang="ca-ES" sz="1000">
                        <a:effectLst/>
                      </a:endParaRPr>
                    </a:p>
                    <a:p>
                      <a:pPr marL="342900" lvl="0" indent="-342900" algn="just">
                        <a:buFont typeface="+mj-lt"/>
                        <a:buAutoNum type="arabicPeriod"/>
                        <a:tabLst>
                          <a:tab pos="225425" algn="l"/>
                        </a:tabLst>
                      </a:pPr>
                      <a:r>
                        <a:rPr lang="ca-ES" sz="1100">
                          <a:effectLst/>
                        </a:rPr>
                        <a:t>El sistema mostra el menú principal segons el perfil d’usuari.</a:t>
                      </a:r>
                      <a:r>
                        <a:rPr lang="ca-ES" sz="1000">
                          <a:effectLst/>
                        </a:rPr>
                        <a:t> </a:t>
                      </a:r>
                      <a:endParaRPr lang="ca-ES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9445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 err="1">
                          <a:effectLst/>
                        </a:rPr>
                        <a:t>Subfluxos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ca-ES" sz="1100">
                          <a:effectLst/>
                        </a:rPr>
                        <a:t> </a:t>
                      </a:r>
                      <a:endParaRPr lang="ca-ES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67229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Fluxos alternatius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 marL="228600" marR="457200"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lang="ca-ES" sz="1100" u="sng">
                          <a:effectLst/>
                        </a:rPr>
                        <a:t>Nom d’usuari / password incorrectes</a:t>
                      </a:r>
                      <a:endParaRPr lang="ca-ES" sz="1200">
                        <a:effectLst/>
                      </a:endParaRPr>
                    </a:p>
                    <a:p>
                      <a:pPr algn="just">
                        <a:buNone/>
                      </a:pPr>
                      <a:r>
                        <a:rPr lang="ca-ES" sz="1100">
                          <a:effectLst/>
                        </a:rPr>
                        <a:t>Si la identificació d’usuari és incorrecta, es mostra un missatge d’error demanant a l’usuari que torni a entrar les dades o cancel·li l’operació. En aquest últim cas, el cas d’ús acaba.</a:t>
                      </a:r>
                      <a:endParaRPr lang="ca-ES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13273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>
                          <a:effectLst/>
                        </a:rPr>
                        <a:t>Postcondició</a:t>
                      </a:r>
                      <a:endParaRPr lang="ca-ES" sz="1000" b="1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>
                          <a:effectLst/>
                        </a:rPr>
                        <a:t> </a:t>
                      </a:r>
                      <a:endParaRPr lang="ca-ES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00874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Requeriments no funcionals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>
                          <a:effectLst/>
                        </a:rPr>
                        <a:t> </a:t>
                      </a:r>
                      <a:endParaRPr lang="ca-ES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5901478"/>
                  </a:ext>
                </a:extLst>
              </a:tr>
              <a:tr h="5207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Prioritat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>
                          <a:effectLst/>
                        </a:rPr>
                        <a:t>Normal</a:t>
                      </a:r>
                      <a:endParaRPr lang="ca-ES" sz="10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95565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ca-ES" sz="1100" b="1" dirty="0">
                          <a:effectLst/>
                        </a:rPr>
                        <a:t>Comentaris</a:t>
                      </a:r>
                      <a:endParaRPr lang="ca-ES" sz="1000" b="1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gridSpan="3"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ca-ES" sz="1100" dirty="0">
                          <a:effectLst/>
                        </a:rPr>
                        <a:t> </a:t>
                      </a:r>
                      <a:endParaRPr lang="ca-ES" sz="10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44450" marR="44450" marT="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82805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2074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5341F-C123-06EB-813C-B80CDC929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446E33-E11D-9CE5-7D89-99B4A949B9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ca-ES" dirty="0"/>
              <a:t>Diagrama Classes inicial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5ECA96-56BD-9234-DB2F-9A3786F3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6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4AEF0E9-4AF8-415D-3A39-16E5C76E547A}"/>
              </a:ext>
            </a:extLst>
          </p:cNvPr>
          <p:cNvSpPr txBox="1"/>
          <p:nvPr/>
        </p:nvSpPr>
        <p:spPr>
          <a:xfrm>
            <a:off x="428603" y="2198728"/>
            <a:ext cx="70172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volem un diagrama de classes inicial. En aquest diagrama (versió inicial) només poseu les classes tipus entitat, no cal posar gestors ni interfases.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0A1FA22-5027-E2B1-4761-7BF3BF47BD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3449" y="548640"/>
            <a:ext cx="4126533" cy="5548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920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38EA2-7393-3EEA-342C-2A0E49400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994DF30-96E6-D413-77EB-9C52FFF97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Burn-down</a:t>
            </a:r>
            <a:r>
              <a:rPr lang="ca-ES" dirty="0"/>
              <a:t> </a:t>
            </a:r>
            <a:r>
              <a:rPr lang="ca-ES" dirty="0" err="1"/>
              <a:t>chart</a:t>
            </a:r>
            <a:endParaRPr lang="ca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7324E472-EEEA-047A-652F-39B76DADE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C25EE-239B-4C5F-AAD1-255A7D5F1EE2}" type="slidenum">
              <a:rPr lang="en-US" smtClean="0"/>
              <a:t>7</a:t>
            </a:fld>
            <a:endParaRPr lang="en-US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0201EA9-8858-5DF7-3188-D5BF4D92DF40}"/>
              </a:ext>
            </a:extLst>
          </p:cNvPr>
          <p:cNvSpPr txBox="1"/>
          <p:nvPr/>
        </p:nvSpPr>
        <p:spPr>
          <a:xfrm>
            <a:off x="428603" y="2198728"/>
            <a:ext cx="112660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ca-ES" dirty="0"/>
              <a:t>En aquesta transparència volem el vostre </a:t>
            </a:r>
            <a:r>
              <a:rPr lang="ca-ES" dirty="0" err="1"/>
              <a:t>burn-down</a:t>
            </a:r>
            <a:r>
              <a:rPr lang="ca-ES" dirty="0"/>
              <a:t> Chart per aquest </a:t>
            </a:r>
            <a:r>
              <a:rPr lang="ca-ES" dirty="0" err="1"/>
              <a:t>sprint</a:t>
            </a:r>
            <a:endParaRPr lang="ca-E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57540303-3215-05B0-67D1-9A5C80493E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3091" y="2190820"/>
            <a:ext cx="5086753" cy="4165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8597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CCA5F87-1D1E-45CB-8D83-FC7EEFAD99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6D8F7F-EDDF-0F27-C5DE-363EDF2D88B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108" r="-1" b="-1"/>
          <a:stretch/>
        </p:blipFill>
        <p:spPr>
          <a:xfrm>
            <a:off x="20" y="10"/>
            <a:ext cx="8668492" cy="6857990"/>
          </a:xfrm>
          <a:prstGeom prst="rect">
            <a:avLst/>
          </a:prstGeom>
        </p:spPr>
      </p:pic>
      <p:sp>
        <p:nvSpPr>
          <p:cNvPr id="87" name="Rectangle 10">
            <a:extLst>
              <a:ext uri="{FF2B5EF4-FFF2-40B4-BE49-F238E27FC236}">
                <a16:creationId xmlns:a16="http://schemas.microsoft.com/office/drawing/2014/main" id="{7CCFC2C6-6238-4A2F-93DE-2ADF74AF63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711652" y="0"/>
            <a:ext cx="8480347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2F091E7-7144-0D59-2350-8918455260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8600" y="1122363"/>
            <a:ext cx="4023360" cy="3204134"/>
          </a:xfrm>
        </p:spPr>
        <p:txBody>
          <a:bodyPr anchor="b">
            <a:normAutofit/>
          </a:bodyPr>
          <a:lstStyle/>
          <a:p>
            <a:r>
              <a:rPr lang="ca-ES" sz="4800"/>
              <a:t>Enginyeria del Software</a:t>
            </a:r>
          </a:p>
        </p:txBody>
      </p:sp>
      <p:sp>
        <p:nvSpPr>
          <p:cNvPr id="88" name="Rectangle 12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8130540" y="346791"/>
            <a:ext cx="146304" cy="70408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51648" y="4546920"/>
            <a:ext cx="4023360" cy="1828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 w="3175">
            <a:solidFill>
              <a:schemeClr val="tx2">
                <a:lumMod val="25000"/>
                <a:lumOff val="7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B6A5C40-8DF0-BEC4-6D4B-21A930E89326}"/>
              </a:ext>
            </a:extLst>
          </p:cNvPr>
          <p:cNvSpPr txBox="1">
            <a:spLocks/>
          </p:cNvSpPr>
          <p:nvPr/>
        </p:nvSpPr>
        <p:spPr>
          <a:xfrm>
            <a:off x="7848600" y="4872922"/>
            <a:ext cx="4023360" cy="1359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ca-ES" sz="1400" dirty="0"/>
              <a:t>Pràctiques: Grup XXX-YY</a:t>
            </a:r>
          </a:p>
          <a:p>
            <a:pPr>
              <a:lnSpc>
                <a:spcPct val="100000"/>
              </a:lnSpc>
            </a:pPr>
            <a:endParaRPr lang="ca-ES" sz="1400" dirty="0"/>
          </a:p>
          <a:p>
            <a:pPr>
              <a:lnSpc>
                <a:spcPct val="100000"/>
              </a:lnSpc>
            </a:pPr>
            <a:r>
              <a:rPr lang="ca-ES" sz="1400" dirty="0" err="1"/>
              <a:t>Sprint</a:t>
            </a:r>
            <a:r>
              <a:rPr lang="ca-ES" sz="1400" dirty="0"/>
              <a:t> 03: Especificacions i Diagrama de Classes</a:t>
            </a:r>
          </a:p>
        </p:txBody>
      </p:sp>
    </p:spTree>
    <p:extLst>
      <p:ext uri="{BB962C8B-B14F-4D97-AF65-F5344CB8AC3E}">
        <p14:creationId xmlns:p14="http://schemas.microsoft.com/office/powerpoint/2010/main" val="792603657"/>
      </p:ext>
    </p:extLst>
  </p:cSld>
  <p:clrMapOvr>
    <a:masterClrMapping/>
  </p:clrMapOvr>
</p:sld>
</file>

<file path=ppt/theme/theme1.xml><?xml version="1.0" encoding="utf-8"?>
<a:theme xmlns:a="http://schemas.openxmlformats.org/drawingml/2006/main" name="AccentBoxVTI">
  <a:themeElements>
    <a:clrScheme name="AnalogousFromRegularSeedRightStep">
      <a:dk1>
        <a:srgbClr val="000000"/>
      </a:dk1>
      <a:lt1>
        <a:srgbClr val="FFFFFF"/>
      </a:lt1>
      <a:dk2>
        <a:srgbClr val="412426"/>
      </a:dk2>
      <a:lt2>
        <a:srgbClr val="E2E8E8"/>
      </a:lt2>
      <a:accent1>
        <a:srgbClr val="C34D54"/>
      </a:accent1>
      <a:accent2>
        <a:srgbClr val="B1643B"/>
      </a:accent2>
      <a:accent3>
        <a:srgbClr val="BBA149"/>
      </a:accent3>
      <a:accent4>
        <a:srgbClr val="98AD39"/>
      </a:accent4>
      <a:accent5>
        <a:srgbClr val="72B346"/>
      </a:accent5>
      <a:accent6>
        <a:srgbClr val="3BB13D"/>
      </a:accent6>
      <a:hlink>
        <a:srgbClr val="30928B"/>
      </a:hlink>
      <a:folHlink>
        <a:srgbClr val="7F7F7F"/>
      </a:folHlink>
    </a:clrScheme>
    <a:fontScheme name="Avenir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ccentBoxVTI" id="{9F778A78-DC9A-453A-A82D-A75CAD503E15}" vid="{EA961113-7CC4-4569-8A6A-7BC2C1E2F401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3BD3DC6F0E81D4FA56575A4B7B24AF5" ma:contentTypeVersion="14" ma:contentTypeDescription="Crear nuevo documento." ma:contentTypeScope="" ma:versionID="ded3d347f3a98b31a82ee0cc093f824b">
  <xsd:schema xmlns:xsd="http://www.w3.org/2001/XMLSchema" xmlns:xs="http://www.w3.org/2001/XMLSchema" xmlns:p="http://schemas.microsoft.com/office/2006/metadata/properties" xmlns:ns3="7b814fa0-4f1b-4d56-8a36-064af1e36e66" xmlns:ns4="b1fa7ccf-aa4f-4f27-84db-07667d020acb" targetNamespace="http://schemas.microsoft.com/office/2006/metadata/properties" ma:root="true" ma:fieldsID="fe3adeea5df1e60fd0d7c7fb86895927" ns3:_="" ns4:_="">
    <xsd:import namespace="7b814fa0-4f1b-4d56-8a36-064af1e36e66"/>
    <xsd:import namespace="b1fa7ccf-aa4f-4f27-84db-07667d020acb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MediaServiceMetadata" minOccurs="0"/>
                <xsd:element ref="ns4:MediaServiceFastMetadata" minOccurs="0"/>
                <xsd:element ref="ns4:MediaServiceAutoKeyPoints" minOccurs="0"/>
                <xsd:element ref="ns4:MediaServiceKeyPoints" minOccurs="0"/>
                <xsd:element ref="ns4:MediaServiceAutoTags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_activity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814fa0-4f1b-4d56-8a36-064af1e36e66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Hash de la sugerencia para compartir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fa7ccf-aa4f-4f27-84db-07667d020a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activity" ma:index="19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b814fa0-4f1b-4d56-8a36-064af1e36e66">
      <UserInfo>
        <DisplayName/>
        <AccountId xsi:nil="true"/>
        <AccountType/>
      </UserInfo>
    </SharedWithUsers>
    <_activity xmlns="b1fa7ccf-aa4f-4f27-84db-07667d020acb" xsi:nil="true"/>
  </documentManagement>
</p:properties>
</file>

<file path=customXml/itemProps1.xml><?xml version="1.0" encoding="utf-8"?>
<ds:datastoreItem xmlns:ds="http://schemas.openxmlformats.org/officeDocument/2006/customXml" ds:itemID="{E77A2FCE-FB77-4A2D-98B9-B8BD51BEE8C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b814fa0-4f1b-4d56-8a36-064af1e36e66"/>
    <ds:schemaRef ds:uri="b1fa7ccf-aa4f-4f27-84db-07667d020a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4171512-FDE1-4E49-B7EA-58AD2B3337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FBF3923-D9E5-4962-BBB8-690B0ABC4F42}">
  <ds:schemaRefs>
    <ds:schemaRef ds:uri="http://www.w3.org/XML/1998/namespace"/>
    <ds:schemaRef ds:uri="b1fa7ccf-aa4f-4f27-84db-07667d020acb"/>
    <ds:schemaRef ds:uri="http://schemas.microsoft.com/office/2006/metadata/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schemas.openxmlformats.org/package/2006/metadata/core-properties"/>
    <ds:schemaRef ds:uri="7b814fa0-4f1b-4d56-8a36-064af1e36e66"/>
    <ds:schemaRef ds:uri="http://purl.org/dc/dcmitype/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7783</TotalTime>
  <Words>363</Words>
  <Application>Microsoft Office PowerPoint</Application>
  <PresentationFormat>Panorámica</PresentationFormat>
  <Paragraphs>69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3" baseType="lpstr">
      <vt:lpstr>Arial</vt:lpstr>
      <vt:lpstr>Calibri</vt:lpstr>
      <vt:lpstr>Neue Haas Grotesk Text Pro</vt:lpstr>
      <vt:lpstr>Times New Roman</vt:lpstr>
      <vt:lpstr>AccentBoxVTI</vt:lpstr>
      <vt:lpstr>Enginyeria del Software</vt:lpstr>
      <vt:lpstr>Composició de l’equip </vt:lpstr>
      <vt:lpstr>Tasques fetes al sprint</vt:lpstr>
      <vt:lpstr>Diagrama Cas d’Ús final</vt:lpstr>
      <vt:lpstr>Especificacions</vt:lpstr>
      <vt:lpstr>Diagrama Classes inicial</vt:lpstr>
      <vt:lpstr>Burn-down chart</vt:lpstr>
      <vt:lpstr>Enginyeria del Software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Enginyeria del Software</dc:title>
  <dc:creator>Jorge Bernal del Nozal</dc:creator>
  <cp:lastModifiedBy>Marc Sala Tarré</cp:lastModifiedBy>
  <cp:revision>36</cp:revision>
  <dcterms:created xsi:type="dcterms:W3CDTF">2023-02-10T08:32:17Z</dcterms:created>
  <dcterms:modified xsi:type="dcterms:W3CDTF">2026-05-13T15:20:58Z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0x01010063BD3DC6F0E81D4FA56575A4B7B24AF5</vt:lpwstr>
  </property>
  <property fmtid="{D5CDD505-2E9C-101B-9397-08002B2CF9AE}" pid="3" name="Order">
    <vt:r8>1700</vt:r8>
  </property>
  <property fmtid="{D5CDD505-2E9C-101B-9397-08002B2CF9AE}" pid="4" name="_ExtendedDescription">
    <vt:lpwstr/>
  </property>
  <property fmtid="{D5CDD505-2E9C-101B-9397-08002B2CF9AE}" pid="5" name="TriggerFlowInfo">
    <vt:lpwstr/>
  </property>
  <property fmtid="{D5CDD505-2E9C-101B-9397-08002B2CF9AE}" pid="6" name="ComplianceAssetId">
    <vt:lpwstr/>
  </property>
</Properties>
</file>