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38"/>
  </p:notesMasterIdLst>
  <p:sldIdLst>
    <p:sldId id="412" r:id="rId5"/>
    <p:sldId id="400" r:id="rId6"/>
    <p:sldId id="408" r:id="rId7"/>
    <p:sldId id="454" r:id="rId8"/>
    <p:sldId id="444" r:id="rId9"/>
    <p:sldId id="414" r:id="rId10"/>
    <p:sldId id="415" r:id="rId11"/>
    <p:sldId id="449" r:id="rId12"/>
    <p:sldId id="450" r:id="rId13"/>
    <p:sldId id="451" r:id="rId14"/>
    <p:sldId id="452" r:id="rId15"/>
    <p:sldId id="413" r:id="rId16"/>
    <p:sldId id="457" r:id="rId17"/>
    <p:sldId id="456" r:id="rId18"/>
    <p:sldId id="411" r:id="rId19"/>
    <p:sldId id="423" r:id="rId20"/>
    <p:sldId id="441" r:id="rId21"/>
    <p:sldId id="442" r:id="rId22"/>
    <p:sldId id="443" r:id="rId23"/>
    <p:sldId id="424" r:id="rId24"/>
    <p:sldId id="438" r:id="rId25"/>
    <p:sldId id="439" r:id="rId26"/>
    <p:sldId id="440" r:id="rId27"/>
    <p:sldId id="432" r:id="rId28"/>
    <p:sldId id="431" r:id="rId29"/>
    <p:sldId id="433" r:id="rId30"/>
    <p:sldId id="434" r:id="rId31"/>
    <p:sldId id="426" r:id="rId32"/>
    <p:sldId id="435" r:id="rId33"/>
    <p:sldId id="436" r:id="rId34"/>
    <p:sldId id="437" r:id="rId35"/>
    <p:sldId id="264" r:id="rId36"/>
    <p:sldId id="455" r:id="rId3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FEF8BE"/>
    <a:srgbClr val="FF0000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62" d="100"/>
          <a:sy n="62" d="100"/>
        </p:scale>
        <p:origin x="480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20/05/2026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1" name="Google Shape;18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82" name="Google Shape;182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ca-ES"/>
              <a:t>32</a:t>
            </a:fld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artipages/ES23UAB431-02" TargetMode="External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hyperlink" Target="https://trello.com/invite/scrum437/ATTIc166beb62bacfa5bbf853a2924096fefE73BEFBC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 dirty="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431-02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919370" y="3628935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buClr>
                <a:srgbClr val="000000"/>
              </a:buClr>
              <a:buSzPts val="1800"/>
            </a:pPr>
            <a:r>
              <a:rPr lang="ca-ES" dirty="0">
                <a:solidFill>
                  <a:schemeClr val="dk1"/>
                </a:solidFill>
              </a:rPr>
              <a:t>Alejandro Ibarra Amaro</a:t>
            </a:r>
          </a:p>
        </p:txBody>
      </p:sp>
      <p:sp>
        <p:nvSpPr>
          <p:cNvPr id="3" name="Google Shape;121;p2">
            <a:extLst>
              <a:ext uri="{FF2B5EF4-FFF2-40B4-BE49-F238E27FC236}">
                <a16:creationId xmlns:a16="http://schemas.microsoft.com/office/drawing/2014/main" id="{B6383E0C-FDFB-F010-6F2F-1DB223757DCA}"/>
              </a:ext>
            </a:extLst>
          </p:cNvPr>
          <p:cNvSpPr txBox="1"/>
          <p:nvPr/>
        </p:nvSpPr>
        <p:spPr>
          <a:xfrm>
            <a:off x="4023231" y="3628935"/>
            <a:ext cx="1354500" cy="646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b="1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122;p2">
            <a:extLst>
              <a:ext uri="{FF2B5EF4-FFF2-40B4-BE49-F238E27FC236}">
                <a16:creationId xmlns:a16="http://schemas.microsoft.com/office/drawing/2014/main" id="{0A3C3212-9880-B84C-7283-7EFE2C3FE50F}"/>
              </a:ext>
            </a:extLst>
          </p:cNvPr>
          <p:cNvSpPr txBox="1"/>
          <p:nvPr/>
        </p:nvSpPr>
        <p:spPr>
          <a:xfrm>
            <a:off x="1266385" y="5986110"/>
            <a:ext cx="1625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Martí Pagès Sánchez</a:t>
            </a:r>
            <a:endParaRPr sz="18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23;p2">
            <a:extLst>
              <a:ext uri="{FF2B5EF4-FFF2-40B4-BE49-F238E27FC236}">
                <a16:creationId xmlns:a16="http://schemas.microsoft.com/office/drawing/2014/main" id="{483AE365-4129-846F-01E0-9024A4F4A722}"/>
              </a:ext>
            </a:extLst>
          </p:cNvPr>
          <p:cNvSpPr txBox="1"/>
          <p:nvPr/>
        </p:nvSpPr>
        <p:spPr>
          <a:xfrm>
            <a:off x="3792981" y="5986110"/>
            <a:ext cx="1815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Hug </a:t>
            </a:r>
            <a:r>
              <a:rPr lang="ca-ES" sz="1800" i="0" u="none" strike="noStrike" cap="none" dirty="0" err="1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Capafons</a:t>
            </a:r>
            <a:r>
              <a:rPr lang="ca-ES" sz="180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Cuadra</a:t>
            </a:r>
            <a:endParaRPr sz="1800" i="0" u="none" strike="noStrike" cap="none" dirty="0">
              <a:solidFill>
                <a:schemeClr val="dk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Google Shape;124;p2">
            <a:extLst>
              <a:ext uri="{FF2B5EF4-FFF2-40B4-BE49-F238E27FC236}">
                <a16:creationId xmlns:a16="http://schemas.microsoft.com/office/drawing/2014/main" id="{4B6506D9-16C5-7EF4-2B27-3655F1FACBB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417454" y="2249406"/>
            <a:ext cx="1354576" cy="1354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25;p2">
            <a:extLst>
              <a:ext uri="{FF2B5EF4-FFF2-40B4-BE49-F238E27FC236}">
                <a16:creationId xmlns:a16="http://schemas.microsoft.com/office/drawing/2014/main" id="{D3C0B77C-813D-2B82-A4F0-44206622343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t="12034"/>
          <a:stretch/>
        </p:blipFill>
        <p:spPr>
          <a:xfrm>
            <a:off x="3922530" y="4388109"/>
            <a:ext cx="1555899" cy="15730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26;p2">
            <a:extLst>
              <a:ext uri="{FF2B5EF4-FFF2-40B4-BE49-F238E27FC236}">
                <a16:creationId xmlns:a16="http://schemas.microsoft.com/office/drawing/2014/main" id="{AED74F45-805A-E347-F936-2B678A1556D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3155" y="2159859"/>
            <a:ext cx="1434651" cy="1469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27;p2">
            <a:extLst>
              <a:ext uri="{FF2B5EF4-FFF2-40B4-BE49-F238E27FC236}">
                <a16:creationId xmlns:a16="http://schemas.microsoft.com/office/drawing/2014/main" id="{6ADE8B53-DC35-1E05-51FF-0B7A42BFD5EC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01647" y="4388102"/>
            <a:ext cx="1354575" cy="1573055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121;p2">
            <a:extLst>
              <a:ext uri="{FF2B5EF4-FFF2-40B4-BE49-F238E27FC236}">
                <a16:creationId xmlns:a16="http://schemas.microsoft.com/office/drawing/2014/main" id="{C6430604-E226-1513-EA3B-74FDD6234BF0}"/>
              </a:ext>
            </a:extLst>
          </p:cNvPr>
          <p:cNvSpPr txBox="1"/>
          <p:nvPr/>
        </p:nvSpPr>
        <p:spPr>
          <a:xfrm>
            <a:off x="4023231" y="3642485"/>
            <a:ext cx="13545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ca-ES" sz="180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Marc Sala Tarré</a:t>
            </a:r>
            <a:endParaRPr sz="180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33E001C8-D229-3F2D-42EB-B8F2D3786B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549955"/>
            <a:ext cx="5374822" cy="3069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6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9" presetClass="emph" presetSubtype="0" repeatCount="indefinite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allAtOnce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6283732" y="4903438"/>
            <a:ext cx="4825135" cy="18498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MARTÍ PAGÈS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cuiner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xat</a:t>
            </a:r>
            <a:endParaRPr lang="ca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3D2211DD-048E-6AEB-6E7F-EA9AC912627A}"/>
              </a:ext>
            </a:extLst>
          </p:cNvPr>
          <p:cNvSpPr txBox="1"/>
          <p:nvPr/>
        </p:nvSpPr>
        <p:spPr>
          <a:xfrm>
            <a:off x="6283732" y="1904860"/>
            <a:ext cx="4825135" cy="29985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MARC SALA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Comanda/Reserva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correu electrònic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PowerPoint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Burn-down </a:t>
            </a:r>
            <a:r>
              <a:rPr lang="ca-ES" sz="1600" dirty="0" err="1"/>
              <a:t>chart</a:t>
            </a:r>
            <a:endParaRPr lang="ca-ES" sz="1600" dirty="0"/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Ajuntar diagrames</a:t>
            </a:r>
            <a:endParaRPr lang="ca-ES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A21BE4-7A38-735F-5675-F5D91443AD5D}"/>
              </a:ext>
            </a:extLst>
          </p:cNvPr>
          <p:cNvSpPr txBox="1"/>
          <p:nvPr/>
        </p:nvSpPr>
        <p:spPr>
          <a:xfrm>
            <a:off x="1375659" y="1904860"/>
            <a:ext cx="4720339" cy="22599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ALEJANDRO IBARRA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7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client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no registrat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entitat bancària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10CE5B-4436-8E40-2FCD-E09F7D6802B1}"/>
              </a:ext>
            </a:extLst>
          </p:cNvPr>
          <p:cNvSpPr txBox="1"/>
          <p:nvPr/>
        </p:nvSpPr>
        <p:spPr>
          <a:xfrm>
            <a:off x="1375660" y="4164774"/>
            <a:ext cx="4720339" cy="2629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HUG CAPAFONS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Acabar diagrama de casos d’ús final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8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repartidor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usuari general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sz="1600" dirty="0"/>
              <a:t>Diagrama de classes GPS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D6F27-8E87-0C66-4910-A19AD6150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E8E03-48F8-0F36-EA82-1A873045E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230A3D2-30D9-12AC-4741-2F244CABC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AA66BEB-8AD4-379C-C613-CEF7CDD4480D}"/>
              </a:ext>
            </a:extLst>
          </p:cNvPr>
          <p:cNvSpPr txBox="1"/>
          <p:nvPr/>
        </p:nvSpPr>
        <p:spPr>
          <a:xfrm>
            <a:off x="6283732" y="4903438"/>
            <a:ext cx="4825135" cy="1567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MARTÍ PAGÈS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Corregir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Millorar diagrama de classes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C04D1D3-362F-8550-6FFA-C38FA0A5C41B}"/>
              </a:ext>
            </a:extLst>
          </p:cNvPr>
          <p:cNvSpPr txBox="1"/>
          <p:nvPr/>
        </p:nvSpPr>
        <p:spPr>
          <a:xfrm>
            <a:off x="6283732" y="1904860"/>
            <a:ext cx="4825135" cy="1567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MARC SALA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Corregir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PowerPoint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34752F3-DD34-C461-ADF1-EE33EF77DDDE}"/>
              </a:ext>
            </a:extLst>
          </p:cNvPr>
          <p:cNvSpPr txBox="1"/>
          <p:nvPr/>
        </p:nvSpPr>
        <p:spPr>
          <a:xfrm>
            <a:off x="1375659" y="1904860"/>
            <a:ext cx="4720339" cy="15674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ALEJANDRO IBARRA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Corregir especificacions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Millorar diagrama de classes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FB8A61-26C9-5329-B65E-8E8F89BB1F5E}"/>
              </a:ext>
            </a:extLst>
          </p:cNvPr>
          <p:cNvSpPr txBox="1"/>
          <p:nvPr/>
        </p:nvSpPr>
        <p:spPr>
          <a:xfrm>
            <a:off x="1375660" y="4164774"/>
            <a:ext cx="4720339" cy="11519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50000"/>
              </a:lnSpc>
            </a:pPr>
            <a:r>
              <a:rPr lang="ca-ES" b="1" u="sng" dirty="0"/>
              <a:t>HUG CAPAFONS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ca-ES" dirty="0"/>
              <a:t>Corregir especificacions</a:t>
            </a:r>
          </a:p>
        </p:txBody>
      </p:sp>
    </p:spTree>
    <p:extLst>
      <p:ext uri="{BB962C8B-B14F-4D97-AF65-F5344CB8AC3E}">
        <p14:creationId xmlns:p14="http://schemas.microsoft.com/office/powerpoint/2010/main" val="222162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E69FD9-1EB6-3728-F81E-D81C07780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C7B352FC-1F44-4AB9-A2BD-FBF231C6B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2395226-AA59-7D64-6A40-8D89D148D77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8202" r="12595" b="2"/>
          <a:stretch>
            <a:fillRect/>
          </a:stretch>
        </p:blipFill>
        <p:spPr>
          <a:xfrm>
            <a:off x="-1262511" y="0"/>
            <a:ext cx="14490118" cy="6858000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4716089"/>
            <a:ext cx="6288261" cy="1573149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noFill/>
          </a:ln>
          <a:effectLst>
            <a:outerShdw blurRad="50800" dist="50800" dir="2700000" algn="tl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F58E78-39D4-55F9-F9F7-A41805A46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210" y="4909985"/>
            <a:ext cx="3212386" cy="118535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600" dirty="0">
                <a:solidFill>
                  <a:schemeClr val="bg1"/>
                </a:solidFill>
              </a:rPr>
              <a:t>Trello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5175711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728936" y="5498088"/>
            <a:ext cx="1021458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8621A33-5E94-FCE0-06FE-7F8F9AA35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932170" y="6356350"/>
            <a:ext cx="907644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bg1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9112431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7509EE1-50C3-F952-9B8A-0592723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9E17418-E994-80DA-BCB2-7AC817D1D2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1717684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8C6A5-709E-8BF9-82F5-B963710C4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7304435-9903-ED17-BC44-3F41F7CBB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18BEBEF-155C-B5DA-9899-0DDB28DAA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9B509AF-A78D-F867-3141-87671289D1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45238"/>
            <a:ext cx="12192000" cy="5767524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26E44834-A1BE-3307-37AB-72577058581A}"/>
              </a:ext>
            </a:extLst>
          </p:cNvPr>
          <p:cNvSpPr txBox="1">
            <a:spLocks/>
          </p:cNvSpPr>
          <p:nvPr/>
        </p:nvSpPr>
        <p:spPr>
          <a:xfrm>
            <a:off x="5529834" y="212680"/>
            <a:ext cx="6161532" cy="665116"/>
          </a:xfrm>
          <a:prstGeom prst="rect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ca-ES" dirty="0"/>
              <a:t>Diagrama Cas d’Ús final</a:t>
            </a:r>
          </a:p>
        </p:txBody>
      </p:sp>
    </p:spTree>
    <p:extLst>
      <p:ext uri="{BB962C8B-B14F-4D97-AF65-F5344CB8AC3E}">
        <p14:creationId xmlns:p14="http://schemas.microsoft.com/office/powerpoint/2010/main" val="35540158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825636-2E79-4F23-4104-EDD305C13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2879270"/>
            <a:ext cx="3099816" cy="540585"/>
          </a:xfrm>
        </p:spPr>
        <p:txBody>
          <a:bodyPr>
            <a:normAutofit/>
          </a:bodyPr>
          <a:lstStyle/>
          <a:p>
            <a:r>
              <a:rPr lang="en-US" sz="2800" dirty="0" err="1"/>
              <a:t>Especificacions</a:t>
            </a:r>
            <a:endParaRPr lang="es-ES" sz="280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959E1A7-5AE7-4AF1-5A09-5426E921B35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Alejandro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A9161CC-C0B4-777D-3A14-4D86B9F64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8</a:t>
            </a:fld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C0FEE6B-C902-783C-9C3F-42BA26E2C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935" y="0"/>
            <a:ext cx="7507675" cy="689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8168604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8FE45-0347-47E6-C0B3-63A17743D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899F0D-FCA2-4826-2F48-3518CE198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2879270"/>
            <a:ext cx="3099816" cy="540585"/>
          </a:xfrm>
        </p:spPr>
        <p:txBody>
          <a:bodyPr>
            <a:normAutofit/>
          </a:bodyPr>
          <a:lstStyle/>
          <a:p>
            <a:r>
              <a:rPr lang="en-US" sz="2800" dirty="0" err="1"/>
              <a:t>Especificacions</a:t>
            </a:r>
            <a:endParaRPr lang="es-ES" sz="280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BA0532B-8E6A-DE56-C5D0-E7F240AA9E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Marc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B4902D7-29BA-708C-48FE-FD618AE94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9</a:t>
            </a:fld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33E7F73-8F30-FA84-E24B-462FEBA400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995" y="8509"/>
            <a:ext cx="6984327" cy="6859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01394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BFD15-EA44-878C-6418-763455B0D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F0771A-4C4C-375E-03FA-ABB06443D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2879270"/>
            <a:ext cx="3099816" cy="540585"/>
          </a:xfrm>
        </p:spPr>
        <p:txBody>
          <a:bodyPr>
            <a:normAutofit/>
          </a:bodyPr>
          <a:lstStyle/>
          <a:p>
            <a:r>
              <a:rPr lang="en-US" sz="2800" dirty="0" err="1"/>
              <a:t>Especificacions</a:t>
            </a:r>
            <a:endParaRPr lang="es-ES" sz="280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8B6976D-D26B-9050-1DA0-6731CE02B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Martí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1823B70-375A-5315-32D4-F3E4153E7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10</a:t>
            </a:fld>
            <a:endParaRPr lang="en-US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D85199D-44B0-D9FC-BA85-9E8E27E4F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390" y="9144"/>
            <a:ext cx="64955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144270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C6410-BFD6-56B9-8C60-1CA50D198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9EF153-9AEF-D631-FC9C-385079257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2879270"/>
            <a:ext cx="3099816" cy="540585"/>
          </a:xfrm>
        </p:spPr>
        <p:txBody>
          <a:bodyPr>
            <a:normAutofit/>
          </a:bodyPr>
          <a:lstStyle/>
          <a:p>
            <a:r>
              <a:rPr lang="en-US" sz="2800" dirty="0" err="1"/>
              <a:t>Especificacions</a:t>
            </a:r>
            <a:endParaRPr lang="es-ES" sz="280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5F84579-B422-5623-3504-504398E2091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dirty="0"/>
              <a:t>Hug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24A8C62-CF62-61C3-4706-5CBE037ED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11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86324AB1-D6E5-DD52-CDC9-755E52476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5786" y="18681"/>
            <a:ext cx="7333414" cy="683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694188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F5341F-C123-06EB-813C-B80CDC92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16F48AD3-C8B3-4F74-B546-F12937F7D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446E33-E11D-9CE5-7D89-99B4A949B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Diagrama Classes inicial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5ECA96-56BD-9234-DB2F-9A3786F3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165BD786-7C3B-2034-44AF-9B3F2B7B28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554" y="0"/>
            <a:ext cx="59341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20729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BFF51C-D7D8-46F9-0147-AE02AA136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B34B2BA-C2BA-2A73-8C3A-69E80A1215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1CAD2A-3FE1-6782-23AE-42D79219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CE36145-F5B8-8038-09F0-153283BF0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70E509-1270-A752-1453-242993D9A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Diagrama Classes inicial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9E7BBD0-5883-0C1E-5C8D-8BDA75C21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F0089B-28C2-4859-99D5-F2651F6650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EBCAAE-E9A5-F31D-4FE8-5DFB0F09D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13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B0861431-927B-DF2A-17B8-CBCD3A58C4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554" y="0"/>
            <a:ext cx="5934167" cy="6858000"/>
          </a:xfrm>
          <a:prstGeom prst="rect">
            <a:avLst/>
          </a:prstGeom>
        </p:spPr>
      </p:pic>
      <p:sp>
        <p:nvSpPr>
          <p:cNvPr id="8" name="Signo de multiplicación 7">
            <a:extLst>
              <a:ext uri="{FF2B5EF4-FFF2-40B4-BE49-F238E27FC236}">
                <a16:creationId xmlns:a16="http://schemas.microsoft.com/office/drawing/2014/main" id="{0014AEF5-54B8-530C-D930-26FBEDBFF3A8}"/>
              </a:ext>
            </a:extLst>
          </p:cNvPr>
          <p:cNvSpPr/>
          <p:nvPr/>
        </p:nvSpPr>
        <p:spPr>
          <a:xfrm>
            <a:off x="1540116" y="172994"/>
            <a:ext cx="642552" cy="735474"/>
          </a:xfrm>
          <a:prstGeom prst="mathMultiply">
            <a:avLst>
              <a:gd name="adj1" fmla="val 7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9" name="Signo de multiplicación 8">
            <a:extLst>
              <a:ext uri="{FF2B5EF4-FFF2-40B4-BE49-F238E27FC236}">
                <a16:creationId xmlns:a16="http://schemas.microsoft.com/office/drawing/2014/main" id="{5BD1FAEF-01CB-65AD-8944-44AFD293C7C4}"/>
              </a:ext>
            </a:extLst>
          </p:cNvPr>
          <p:cNvSpPr/>
          <p:nvPr/>
        </p:nvSpPr>
        <p:spPr>
          <a:xfrm>
            <a:off x="5560541" y="1217140"/>
            <a:ext cx="642552" cy="735474"/>
          </a:xfrm>
          <a:prstGeom prst="mathMultiply">
            <a:avLst>
              <a:gd name="adj1" fmla="val 7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1" name="Signo de multiplicación 10">
            <a:extLst>
              <a:ext uri="{FF2B5EF4-FFF2-40B4-BE49-F238E27FC236}">
                <a16:creationId xmlns:a16="http://schemas.microsoft.com/office/drawing/2014/main" id="{924774B4-3CED-0A08-D794-24C97FC34D5B}"/>
              </a:ext>
            </a:extLst>
          </p:cNvPr>
          <p:cNvSpPr/>
          <p:nvPr/>
        </p:nvSpPr>
        <p:spPr>
          <a:xfrm>
            <a:off x="1861392" y="3249827"/>
            <a:ext cx="642552" cy="735474"/>
          </a:xfrm>
          <a:prstGeom prst="mathMultiply">
            <a:avLst>
              <a:gd name="adj1" fmla="val 7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3" name="Signo de multiplicación 12">
            <a:extLst>
              <a:ext uri="{FF2B5EF4-FFF2-40B4-BE49-F238E27FC236}">
                <a16:creationId xmlns:a16="http://schemas.microsoft.com/office/drawing/2014/main" id="{AB5C249E-B457-1505-8DE0-787792E173DA}"/>
              </a:ext>
            </a:extLst>
          </p:cNvPr>
          <p:cNvSpPr/>
          <p:nvPr/>
        </p:nvSpPr>
        <p:spPr>
          <a:xfrm>
            <a:off x="6096000" y="2268857"/>
            <a:ext cx="642552" cy="735474"/>
          </a:xfrm>
          <a:prstGeom prst="mathMultiply">
            <a:avLst>
              <a:gd name="adj1" fmla="val 7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5" name="Signo de multiplicación 14">
            <a:extLst>
              <a:ext uri="{FF2B5EF4-FFF2-40B4-BE49-F238E27FC236}">
                <a16:creationId xmlns:a16="http://schemas.microsoft.com/office/drawing/2014/main" id="{4265E582-44FA-11B7-6E48-0ADBA0132C60}"/>
              </a:ext>
            </a:extLst>
          </p:cNvPr>
          <p:cNvSpPr/>
          <p:nvPr/>
        </p:nvSpPr>
        <p:spPr>
          <a:xfrm>
            <a:off x="3556653" y="172994"/>
            <a:ext cx="642552" cy="735474"/>
          </a:xfrm>
          <a:prstGeom prst="mathMultiply">
            <a:avLst>
              <a:gd name="adj1" fmla="val 717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90299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0F9336-062F-B9AB-F993-B7323C65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68BE85-B64D-5033-4E7B-9DBBE2134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C0E0FC-AFC5-237C-92AE-07C65897CC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A63152F7-8A27-CFDF-1D25-2A5E02CD96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831ABF6-A3B7-DE98-98B6-3D9EF6EDD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48600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/>
              <a:t>Diagrama Classes inicial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2CA1EB-F992-B5E5-F86A-5A325C4FD4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EB206CD-F669-8DC6-436A-142EE0800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9EA94E4-C357-0932-E6C8-04FD4ADFF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0138" y="6356350"/>
            <a:ext cx="721822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29B5998-758A-9759-8240-4C03823220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2039" y="1918"/>
            <a:ext cx="52214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76402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D06CE56-3881-4ADA-8CEF-D18B02C24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9F3C543-62EC-4433-9C93-A2CD8764E9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17517EF-BD4D-4055-BDB4-A322C5356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690" y="405575"/>
            <a:ext cx="6430414" cy="13716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Burn-down chart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130604" y="1071836"/>
            <a:ext cx="1021458" cy="914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4380520-5997-BD06-C08D-BE5B180D49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4114" y="1941547"/>
            <a:ext cx="8503771" cy="5017226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B2DC25EE-239B-4C5F-AAD1-255A7D5F1EE2}" type="slidenum">
              <a:rPr lang="en-US">
                <a:solidFill>
                  <a:schemeClr val="tx2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15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C73A-1C08-B505-A3E0-BAD0F7683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2FF773-323A-35BA-3274-AC27F546B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Alejandro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243978C-8DEA-5928-5B7A-B547C9179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16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A4E42C6-DB11-CB0A-9132-ED8960FA3C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7" y="1822622"/>
            <a:ext cx="6028043" cy="503537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446DF18B-7F35-A8D3-4278-CEC94F3ADB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98878"/>
            <a:ext cx="6095999" cy="4082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7143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1F7EBBD-341B-BC56-B4C0-324ED289F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17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9B0812C-9995-1078-242E-118EBFC3C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6" y="1241144"/>
            <a:ext cx="5949087" cy="437571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79C6094B-D2F4-F444-691D-953C81398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1861" y="1063906"/>
            <a:ext cx="6155723" cy="4730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325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9A60223-EEC5-5328-45C5-0D40D26B9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18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1A6E55D-4A9E-3881-E605-B0CDFF217C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5" y="481912"/>
            <a:ext cx="6053475" cy="589417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4963BF2-9E38-70F2-076D-73D14A7FD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614748"/>
            <a:ext cx="6054052" cy="5628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066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E00416A-3D04-14CC-608B-FD3ADE253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19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3225476-759A-0716-124F-F0A8DAAFA5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98" y="485001"/>
            <a:ext cx="6031995" cy="588799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41DA6A8-DAE5-260B-3DA3-A173E31B57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1995" y="799755"/>
            <a:ext cx="6132207" cy="525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247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E4078-2348-2612-A2AC-C5AC19458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848A33-3739-6FBF-A2A4-62745E80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Marc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4974C6-B523-BF66-F98C-6004475FC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20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6C0F20-A7C9-F0E1-F233-7ACA32D35242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A2E08B0-3C30-0F1B-FCA0-9B28FBDB0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86" y="1492740"/>
            <a:ext cx="5216611" cy="5365259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239BD0B-A023-2FEB-99F4-08A10A578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03" y="1492741"/>
            <a:ext cx="5609360" cy="536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68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D1B0ADD-28B7-8164-90A8-FB21D0618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21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2BB176C-EA99-6FEA-1212-2EFCE5AA3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312" y="503538"/>
            <a:ext cx="6105312" cy="5850924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A07AEBE5-1CED-5DFF-C668-3C4B4F3C25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5304" y="0"/>
            <a:ext cx="612669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262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5C5573FF-D04B-19E4-9CFF-E4CF7D52D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22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42F857-C820-F132-CE2D-314ED304CA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023919" cy="664625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D7C81E66-E60F-2BBB-895D-AFF2509C38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9578" y="511966"/>
            <a:ext cx="6212422" cy="5622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14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8D29F885-1EAF-C0D6-98F0-60080306E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23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4177969-EA84-76EE-BE42-0B8029B1B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758" y="156706"/>
            <a:ext cx="7230484" cy="654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88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36848-33F5-9EDC-C880-A54E67002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DE1801-EE63-61DB-3ABB-1C9E6D6A4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Martí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B701FF1-6297-C873-D7AC-EE31C9FC9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DBDEEC3-5111-DE85-36CD-EC18A355EE4F}"/>
              </a:ext>
            </a:extLst>
          </p:cNvPr>
          <p:cNvSpPr txBox="1"/>
          <p:nvPr/>
        </p:nvSpPr>
        <p:spPr>
          <a:xfrm>
            <a:off x="428603" y="2198728"/>
            <a:ext cx="112660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F0321F6-A437-3E1C-1F59-574D72E07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7582" y="1728216"/>
            <a:ext cx="6196229" cy="5019108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2ACEFC04-5507-BAB0-1379-94BF0F709B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8" y="1772438"/>
            <a:ext cx="5997474" cy="5019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433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52D90E8-819F-24D5-2F49-23FCABFEC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25</a:t>
            </a:fld>
            <a:endParaRPr lang="en-US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39F986A1-5AB3-F915-D69F-1EF19C0BF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595" y="0"/>
            <a:ext cx="6116595" cy="6858000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E2D7E045-FBD7-B4FB-0BE9-D2054575C4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753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412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A6C1CBC-6982-74D7-890A-35FCDDC2C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26</a:t>
            </a:fld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4E7DAAC-DEED-E99C-EACF-B21F4FFFB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317017" cy="6858000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0644AD36-216C-48DB-CC06-21186EAC1D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215" y="840259"/>
            <a:ext cx="6024415" cy="5177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35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FB72530B-834D-36E5-D943-897CB9E75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27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40B45D9-E56B-B495-B17A-7F815B72D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96143"/>
            <a:ext cx="5989281" cy="5465714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038F9FC-4170-414D-8CA1-1BBB71CC1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405" y="696143"/>
            <a:ext cx="6195022" cy="546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71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BF3F0-15DB-A2BF-5005-00B7CE832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D64559E-F899-90FD-95CA-3D69AD15C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 - Hug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F1DBEA-726F-A947-AAC9-90D20864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28</a:t>
            </a:fld>
            <a:endParaRPr lang="en-U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005D484-06B9-EBEA-7A72-8B68CC0838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55053"/>
            <a:ext cx="6096000" cy="432271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F5957CBC-DD00-9BB9-2B27-77F235AC0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764091"/>
            <a:ext cx="6064178" cy="509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246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9B6A6CD5-5907-A74B-6A22-0C7A3755D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29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3F5F5F-DFF9-0F8B-E120-F0F01033A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68411"/>
            <a:ext cx="6134495" cy="5721178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D3E90BC8-CBD9-F5AE-7B1D-3A287AFDA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38316"/>
            <a:ext cx="6081646" cy="538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5274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35B7AF41-1985-10EE-83CB-8CFD43037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30</a:t>
            </a:fld>
            <a:endParaRPr lang="en-U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90729180-D8BC-7955-4103-B6E99DA17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6077"/>
            <a:ext cx="5986848" cy="4705843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16C3508C-51FE-3620-BE84-3D7F5B33B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49" y="1008116"/>
            <a:ext cx="6168203" cy="4841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215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6A350DD8-53EE-C621-C1E9-216E093B6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31</a:t>
            </a:fld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C292818-B974-59B1-BB85-4326FA0F5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992" y="0"/>
            <a:ext cx="61920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28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3"/>
          <p:cNvSpPr txBox="1">
            <a:spLocks noGrp="1"/>
          </p:cNvSpPr>
          <p:nvPr>
            <p:ph type="title"/>
          </p:nvPr>
        </p:nvSpPr>
        <p:spPr>
          <a:xfrm>
            <a:off x="1115568" y="548640"/>
            <a:ext cx="10168200" cy="11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</a:pPr>
            <a:r>
              <a:rPr lang="ca-ES" dirty="0"/>
              <a:t>Links:</a:t>
            </a:r>
            <a:endParaRPr dirty="0"/>
          </a:p>
        </p:txBody>
      </p:sp>
      <p:sp>
        <p:nvSpPr>
          <p:cNvPr id="185" name="Google Shape;185;p13"/>
          <p:cNvSpPr txBox="1">
            <a:spLocks noGrp="1"/>
          </p:cNvSpPr>
          <p:nvPr>
            <p:ph type="body" idx="1"/>
          </p:nvPr>
        </p:nvSpPr>
        <p:spPr>
          <a:xfrm>
            <a:off x="1115575" y="2478025"/>
            <a:ext cx="5356200" cy="32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3"/>
              </a:rPr>
              <a:t>https://github.com/martipages/ES23UAB431-02</a:t>
            </a: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 dirty="0"/>
          </a:p>
          <a:p>
            <a:pPr marL="0" lvl="0" indent="0" algn="l" rtl="0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ca-ES" u="sng" dirty="0">
                <a:solidFill>
                  <a:schemeClr val="hlink"/>
                </a:solidFill>
                <a:hlinkClick r:id="rId4"/>
              </a:rPr>
              <a:t>https://trello.com/invite/scrum437/ATTIc166beb62bacfa5bbf853a2924096fefE73BEFBC</a:t>
            </a:r>
            <a:endParaRPr dirty="0"/>
          </a:p>
        </p:txBody>
      </p:sp>
      <p:sp>
        <p:nvSpPr>
          <p:cNvPr id="186" name="Google Shape;186;p13"/>
          <p:cNvSpPr txBox="1">
            <a:spLocks noGrp="1"/>
          </p:cNvSpPr>
          <p:nvPr>
            <p:ph type="sldNum" idx="12"/>
          </p:nvPr>
        </p:nvSpPr>
        <p:spPr>
          <a:xfrm>
            <a:off x="8540496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ca-ES"/>
              <a:t>32</a:t>
            </a:fld>
            <a:endParaRPr dirty="0"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010897" y="3779125"/>
            <a:ext cx="1272800" cy="1381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66150" y="2429911"/>
            <a:ext cx="1998175" cy="1998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13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283275" y="4699011"/>
            <a:ext cx="1763921" cy="176392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0"/>
                                        <p:tgtEl>
                                          <p:spTgt spid="1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extLst>
              <a:ext uri="{FF2B5EF4-FFF2-40B4-BE49-F238E27FC236}">
                <a16:creationId xmlns:a16="http://schemas.microsoft.com/office/drawing/2014/main" id="{4AA1D6FE-893B-6A89-B751-AC9D9F9D9B51}"/>
              </a:ext>
            </a:extLst>
          </p:cNvPr>
          <p:cNvSpPr txBox="1"/>
          <p:nvPr/>
        </p:nvSpPr>
        <p:spPr>
          <a:xfrm>
            <a:off x="4021041" y="2860317"/>
            <a:ext cx="4145692" cy="1137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s-ES" sz="2400" u="sng" dirty="0"/>
              <a:t>GRÀCIES PER LA VOSTRA ATENCIÓ</a:t>
            </a:r>
            <a:r>
              <a:rPr lang="es-ES" sz="2400" dirty="0"/>
              <a:t> 		         </a:t>
            </a:r>
            <a:endParaRPr lang="es-ES" sz="2400" b="1" dirty="0"/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C1036EE5-56CE-DE9B-13D1-F95358AC9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33</a:t>
            </a:fld>
            <a:endParaRPr lang="en-US"/>
          </a:p>
        </p:txBody>
      </p:sp>
      <p:pic>
        <p:nvPicPr>
          <p:cNvPr id="2052" name="Picture 4" descr="Fondos de Pantalla Móvil Meme, Imágenes HD Meme, Descargar Imágenes Gratis">
            <a:extLst>
              <a:ext uri="{FF2B5EF4-FFF2-40B4-BE49-F238E27FC236}">
                <a16:creationId xmlns:a16="http://schemas.microsoft.com/office/drawing/2014/main" id="{2B75DC70-745E-B04E-EBB9-0659A6CDA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6689" y="1377752"/>
            <a:ext cx="7278622" cy="410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lógica de Mario 64 : r/gaming">
            <a:extLst>
              <a:ext uri="{FF2B5EF4-FFF2-40B4-BE49-F238E27FC236}">
                <a16:creationId xmlns:a16="http://schemas.microsoft.com/office/drawing/2014/main" id="{915FC9B9-0B7A-E550-24A9-1DC3E3E012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2463" y="299651"/>
            <a:ext cx="7282848" cy="625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3710116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ageCurlDoubl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8" dur="500"/>
                                        <p:tgtEl>
                                          <p:spTgt spid="20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6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3" dur="20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9085</TotalTime>
  <Words>243</Words>
  <Application>Microsoft Office PowerPoint</Application>
  <PresentationFormat>Panorámica</PresentationFormat>
  <Paragraphs>104</Paragraphs>
  <Slides>33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7" baseType="lpstr">
      <vt:lpstr>Arial</vt:lpstr>
      <vt:lpstr>Calibri</vt:lpstr>
      <vt:lpstr>Neue Haas Grotesk Text Pro</vt:lpstr>
      <vt:lpstr>AccentBoxVTI</vt:lpstr>
      <vt:lpstr>Enginyeria del Software</vt:lpstr>
      <vt:lpstr>Composició de l’equip </vt:lpstr>
      <vt:lpstr>Tasques fetes al sprint</vt:lpstr>
      <vt:lpstr>Tasques fetes al sprint</vt:lpstr>
      <vt:lpstr>Trello</vt:lpstr>
      <vt:lpstr>Presentación de PowerPoint</vt:lpstr>
      <vt:lpstr>Presentación de PowerPoint</vt:lpstr>
      <vt:lpstr>Especificacions</vt:lpstr>
      <vt:lpstr>Especificacions</vt:lpstr>
      <vt:lpstr>Especificacions</vt:lpstr>
      <vt:lpstr>Especificacions</vt:lpstr>
      <vt:lpstr>Diagrama Classes inicial</vt:lpstr>
      <vt:lpstr>Diagrama Classes inicial</vt:lpstr>
      <vt:lpstr>Diagrama Classes inicial</vt:lpstr>
      <vt:lpstr>Burn-down chart</vt:lpstr>
      <vt:lpstr>Especificacions - Alejandro</vt:lpstr>
      <vt:lpstr>Presentación de PowerPoint</vt:lpstr>
      <vt:lpstr>Presentación de PowerPoint</vt:lpstr>
      <vt:lpstr>Presentación de PowerPoint</vt:lpstr>
      <vt:lpstr>Especificacions - Marc</vt:lpstr>
      <vt:lpstr>Presentación de PowerPoint</vt:lpstr>
      <vt:lpstr>Presentación de PowerPoint</vt:lpstr>
      <vt:lpstr>Presentación de PowerPoint</vt:lpstr>
      <vt:lpstr>Especificacions - Martí</vt:lpstr>
      <vt:lpstr>Presentación de PowerPoint</vt:lpstr>
      <vt:lpstr>Presentación de PowerPoint</vt:lpstr>
      <vt:lpstr>Presentación de PowerPoint</vt:lpstr>
      <vt:lpstr>Especificacions - Hug</vt:lpstr>
      <vt:lpstr>Presentación de PowerPoint</vt:lpstr>
      <vt:lpstr>Presentación de PowerPoint</vt:lpstr>
      <vt:lpstr>Presentación de PowerPoint</vt:lpstr>
      <vt:lpstr>Links: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55</cp:revision>
  <dcterms:created xsi:type="dcterms:W3CDTF">2023-02-10T08:32:17Z</dcterms:created>
  <dcterms:modified xsi:type="dcterms:W3CDTF">2026-05-20T21:52:24Z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