
<file path=[Content_Types].xml><?xml version="1.0" encoding="utf-8"?>
<Types xmlns="http://schemas.openxmlformats.org/package/2006/content-types">
  <Default ContentType="image/jpeg" Extension="jpg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9" roundtripDataSignature="AMtx7mh9B6ZmT/28W7Tth4AuylkVEtdGo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customschemas.google.com/relationships/presentationmetadata" Target="metadata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ca-E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6" name="Google Shape;11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2" name="Google Shape;13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0" name="Google Shape;14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9" name="Google Shape;14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7" name="Google Shape;15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6" name="Google Shape;16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4" name="Google Shape;17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3" name="Google Shape;18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ca-ES"/>
              <a:t>cuiner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ca-ES"/>
              <a:t>usuari general + usuari no registrat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ca-ES"/>
              <a:t>client + repartidor (marc)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ca-ES"/>
              <a:t>repassar reqs + juntar UMLs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ca-ES"/>
              <a:t>ppt + burndown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2" name="Google Shape;19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0" name="Google Shape;20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8" name="Google Shape;208;p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9" name="Google Shape;209;p1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9" name="Google Shape;219;p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0" name="Google Shape;220;p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2" name="Google Shape;232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type="ctrTitle"/>
          </p:nvPr>
        </p:nvSpPr>
        <p:spPr>
          <a:xfrm>
            <a:off x="576072" y="1124712"/>
            <a:ext cx="11036808" cy="317296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Arial"/>
              <a:buNone/>
              <a:defRPr sz="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" type="subTitle"/>
          </p:nvPr>
        </p:nvSpPr>
        <p:spPr>
          <a:xfrm>
            <a:off x="576072" y="4727448"/>
            <a:ext cx="11036808" cy="1481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7"/>
          <p:cNvSpPr txBox="1"/>
          <p:nvPr>
            <p:ph idx="10" type="dt"/>
          </p:nvPr>
        </p:nvSpPr>
        <p:spPr>
          <a:xfrm>
            <a:off x="576072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886968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  <p:sp>
        <p:nvSpPr>
          <p:cNvPr id="21" name="Google Shape;21;p17"/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7"/>
          <p:cNvSpPr/>
          <p:nvPr/>
        </p:nvSpPr>
        <p:spPr>
          <a:xfrm flipH="1" rot="10800000">
            <a:off x="578652" y="4501201"/>
            <a:ext cx="11034696" cy="18288"/>
          </a:xfrm>
          <a:prstGeom prst="rect">
            <a:avLst/>
          </a:prstGeom>
          <a:solidFill>
            <a:srgbClr val="DABD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1E3E3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D8D8D8">
                <a:alpha val="3019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8"/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8"/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8"/>
          <p:cNvSpPr txBox="1"/>
          <p:nvPr>
            <p:ph type="title"/>
          </p:nvPr>
        </p:nvSpPr>
        <p:spPr>
          <a:xfrm>
            <a:off x="1115568" y="548640"/>
            <a:ext cx="10168128" cy="11795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" type="body"/>
          </p:nvPr>
        </p:nvSpPr>
        <p:spPr>
          <a:xfrm>
            <a:off x="1115568" y="2478024"/>
            <a:ext cx="10168128" cy="36941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18"/>
          <p:cNvSpPr txBox="1"/>
          <p:nvPr>
            <p:ph idx="10" type="dt"/>
          </p:nvPr>
        </p:nvSpPr>
        <p:spPr>
          <a:xfrm>
            <a:off x="1115568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2" type="sldNum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9"/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F1E3E3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D8D8D8">
                <a:alpha val="3019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9"/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9"/>
          <p:cNvSpPr txBox="1"/>
          <p:nvPr>
            <p:ph type="title"/>
          </p:nvPr>
        </p:nvSpPr>
        <p:spPr>
          <a:xfrm>
            <a:off x="557784" y="640080"/>
            <a:ext cx="10890504" cy="4114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Arial"/>
              <a:buNone/>
              <a:defRPr sz="6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9"/>
          <p:cNvSpPr txBox="1"/>
          <p:nvPr>
            <p:ph idx="1" type="body"/>
          </p:nvPr>
        </p:nvSpPr>
        <p:spPr>
          <a:xfrm>
            <a:off x="841248" y="5102352"/>
            <a:ext cx="10607040" cy="5852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0"/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1E3E3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D8D8D8">
                <a:alpha val="3019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0"/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0"/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0"/>
          <p:cNvSpPr txBox="1"/>
          <p:nvPr>
            <p:ph type="title"/>
          </p:nvPr>
        </p:nvSpPr>
        <p:spPr>
          <a:xfrm>
            <a:off x="1115568" y="548640"/>
            <a:ext cx="10168128" cy="11795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20"/>
          <p:cNvSpPr txBox="1"/>
          <p:nvPr>
            <p:ph idx="1" type="body"/>
          </p:nvPr>
        </p:nvSpPr>
        <p:spPr>
          <a:xfrm>
            <a:off x="1115568" y="2478024"/>
            <a:ext cx="4937760" cy="36941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20"/>
          <p:cNvSpPr txBox="1"/>
          <p:nvPr>
            <p:ph idx="2" type="body"/>
          </p:nvPr>
        </p:nvSpPr>
        <p:spPr>
          <a:xfrm>
            <a:off x="6345936" y="2478024"/>
            <a:ext cx="4937760" cy="36941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0"/>
          <p:cNvSpPr txBox="1"/>
          <p:nvPr>
            <p:ph idx="10" type="dt"/>
          </p:nvPr>
        </p:nvSpPr>
        <p:spPr>
          <a:xfrm>
            <a:off x="1115568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1"/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1E3E3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D8D8D8">
                <a:alpha val="3019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1"/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1"/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1"/>
          <p:cNvSpPr txBox="1"/>
          <p:nvPr>
            <p:ph type="title"/>
          </p:nvPr>
        </p:nvSpPr>
        <p:spPr>
          <a:xfrm>
            <a:off x="1115568" y="548640"/>
            <a:ext cx="10168128" cy="11795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1"/>
          <p:cNvSpPr txBox="1"/>
          <p:nvPr>
            <p:ph idx="1" type="body"/>
          </p:nvPr>
        </p:nvSpPr>
        <p:spPr>
          <a:xfrm>
            <a:off x="1115568" y="2372650"/>
            <a:ext cx="4937760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 cap="none"/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6" name="Google Shape;56;p21"/>
          <p:cNvSpPr txBox="1"/>
          <p:nvPr>
            <p:ph idx="2" type="body"/>
          </p:nvPr>
        </p:nvSpPr>
        <p:spPr>
          <a:xfrm>
            <a:off x="1115568" y="3203688"/>
            <a:ext cx="4937760" cy="29685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42900" lvl="3" marL="1828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3" type="body"/>
          </p:nvPr>
        </p:nvSpPr>
        <p:spPr>
          <a:xfrm>
            <a:off x="6345936" y="2372650"/>
            <a:ext cx="4937760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 cap="none"/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8" name="Google Shape;58;p21"/>
          <p:cNvSpPr txBox="1"/>
          <p:nvPr>
            <p:ph idx="4" type="body"/>
          </p:nvPr>
        </p:nvSpPr>
        <p:spPr>
          <a:xfrm>
            <a:off x="6345936" y="3203687"/>
            <a:ext cx="4937760" cy="296851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42900" lvl="3" marL="1828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9" name="Google Shape;59;p21"/>
          <p:cNvSpPr txBox="1"/>
          <p:nvPr>
            <p:ph idx="10" type="dt"/>
          </p:nvPr>
        </p:nvSpPr>
        <p:spPr>
          <a:xfrm>
            <a:off x="1115568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1"/>
          <p:cNvSpPr txBox="1"/>
          <p:nvPr>
            <p:ph idx="12" type="sldNum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2"/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F1E3E3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BBC9C9">
                <a:alpha val="3019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2"/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2"/>
          <p:cNvSpPr txBox="1"/>
          <p:nvPr>
            <p:ph type="title"/>
          </p:nvPr>
        </p:nvSpPr>
        <p:spPr>
          <a:xfrm>
            <a:off x="1078992" y="1938528"/>
            <a:ext cx="10177272" cy="29900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  <a:defRPr sz="5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F1E3E3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D8D8D8">
                <a:alpha val="3019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24"/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4"/>
          <p:cNvSpPr txBox="1"/>
          <p:nvPr>
            <p:ph type="title"/>
          </p:nvPr>
        </p:nvSpPr>
        <p:spPr>
          <a:xfrm>
            <a:off x="868680" y="1709928"/>
            <a:ext cx="3099816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  <a:defRPr sz="3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" type="body"/>
          </p:nvPr>
        </p:nvSpPr>
        <p:spPr>
          <a:xfrm>
            <a:off x="4965192" y="1709928"/>
            <a:ext cx="6729984" cy="40965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indent="-3556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55600" lvl="3" marL="1828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78" name="Google Shape;78;p24"/>
          <p:cNvSpPr txBox="1"/>
          <p:nvPr>
            <p:ph idx="2" type="body"/>
          </p:nvPr>
        </p:nvSpPr>
        <p:spPr>
          <a:xfrm>
            <a:off x="868680" y="3429000"/>
            <a:ext cx="3099816" cy="2066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9" name="Google Shape;79;p24"/>
          <p:cNvSpPr txBox="1"/>
          <p:nvPr>
            <p:ph idx="10" type="dt"/>
          </p:nvPr>
        </p:nvSpPr>
        <p:spPr>
          <a:xfrm>
            <a:off x="86868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5"/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F1E3E3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D8D8D8">
                <a:alpha val="3019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25"/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25"/>
          <p:cNvSpPr txBox="1"/>
          <p:nvPr>
            <p:ph type="title"/>
          </p:nvPr>
        </p:nvSpPr>
        <p:spPr>
          <a:xfrm>
            <a:off x="868680" y="1709928"/>
            <a:ext cx="3099816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  <a:defRPr sz="3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5"/>
          <p:cNvSpPr/>
          <p:nvPr>
            <p:ph idx="2" type="pic"/>
          </p:nvPr>
        </p:nvSpPr>
        <p:spPr>
          <a:xfrm>
            <a:off x="4965192" y="1161288"/>
            <a:ext cx="6729984" cy="4645152"/>
          </a:xfrm>
          <a:prstGeom prst="rect">
            <a:avLst/>
          </a:prstGeom>
          <a:noFill/>
          <a:ln>
            <a:noFill/>
          </a:ln>
        </p:spPr>
      </p:sp>
      <p:sp>
        <p:nvSpPr>
          <p:cNvPr id="87" name="Google Shape;87;p25"/>
          <p:cNvSpPr txBox="1"/>
          <p:nvPr>
            <p:ph idx="1" type="body"/>
          </p:nvPr>
        </p:nvSpPr>
        <p:spPr>
          <a:xfrm>
            <a:off x="868680" y="3438144"/>
            <a:ext cx="3099816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88" name="Google Shape;88;p25"/>
          <p:cNvSpPr txBox="1"/>
          <p:nvPr>
            <p:ph idx="10" type="dt"/>
          </p:nvPr>
        </p:nvSpPr>
        <p:spPr>
          <a:xfrm>
            <a:off x="86868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26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4" name="Google Shape;94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7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27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  <a:defRPr b="1" i="0" sz="4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>
    <mc:Choice Requires="p14">
      <p:transition spd="med">
        <p14:prism dir="l"/>
      </p:transition>
    </mc:Choice>
    <mc:Fallback>
      <p:transition spd="med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17.png"/><Relationship Id="rId6" Type="http://schemas.openxmlformats.org/officeDocument/2006/relationships/image" Target="../media/image3.png"/><Relationship Id="rId7" Type="http://schemas.openxmlformats.org/officeDocument/2006/relationships/image" Target="../media/image1.gif"/><Relationship Id="rId8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gif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2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martipages/ES23UAB431-02" TargetMode="External"/><Relationship Id="rId4" Type="http://schemas.openxmlformats.org/officeDocument/2006/relationships/hyperlink" Target="https://trello.com/invite/scrum437/ATTIc166beb62bacfa5bbf853a2924096fefE73BEFBC" TargetMode="External"/><Relationship Id="rId5" Type="http://schemas.openxmlformats.org/officeDocument/2006/relationships/image" Target="../media/image13.png"/><Relationship Id="rId6" Type="http://schemas.openxmlformats.org/officeDocument/2006/relationships/image" Target="../media/image8.png"/><Relationship Id="rId7" Type="http://schemas.openxmlformats.org/officeDocument/2006/relationships/image" Target="../media/image1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1.gif"/><Relationship Id="rId4" Type="http://schemas.openxmlformats.org/officeDocument/2006/relationships/image" Target="../media/image23.png"/><Relationship Id="rId5" Type="http://schemas.openxmlformats.org/officeDocument/2006/relationships/image" Target="../media/image10.png"/><Relationship Id="rId6" Type="http://schemas.openxmlformats.org/officeDocument/2006/relationships/image" Target="../media/image20.png"/><Relationship Id="rId7" Type="http://schemas.openxmlformats.org/officeDocument/2006/relationships/image" Target="../media/image22.gif"/><Relationship Id="rId8" Type="http://schemas.openxmlformats.org/officeDocument/2006/relationships/image" Target="../media/image16.gif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8" name="Google Shape;108;p1"/>
          <p:cNvPicPr preferRelativeResize="0"/>
          <p:nvPr/>
        </p:nvPicPr>
        <p:blipFill rotWithShape="1">
          <a:blip r:embed="rId3">
            <a:alphaModFix/>
          </a:blip>
          <a:srcRect b="-1" l="0" r="-1" t="1108"/>
          <a:stretch/>
        </p:blipFill>
        <p:spPr>
          <a:xfrm>
            <a:off x="20" y="10"/>
            <a:ext cx="8668492" cy="685799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"/>
          <p:cNvSpPr/>
          <p:nvPr/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39"/>
                </a:srgbClr>
              </a:gs>
              <a:gs pos="35000">
                <a:srgbClr val="FFFFFF">
                  <a:alpha val="76862"/>
                </a:srgbClr>
              </a:gs>
              <a:gs pos="48000">
                <a:schemeClr val="lt1"/>
              </a:gs>
              <a:gs pos="100000">
                <a:schemeClr val="lt1"/>
              </a:gs>
            </a:gsLst>
            <a:lin ang="10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"/>
          <p:cNvSpPr txBox="1"/>
          <p:nvPr>
            <p:ph type="ctrTitle"/>
          </p:nvPr>
        </p:nvSpPr>
        <p:spPr>
          <a:xfrm>
            <a:off x="7848600" y="1122363"/>
            <a:ext cx="4023360" cy="320413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ca-ES" sz="4800"/>
              <a:t>Enginyeria del Software</a:t>
            </a:r>
            <a:endParaRPr/>
          </a:p>
        </p:txBody>
      </p:sp>
      <p:sp>
        <p:nvSpPr>
          <p:cNvPr id="111" name="Google Shape;111;p1"/>
          <p:cNvSpPr/>
          <p:nvPr/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"/>
          <p:cNvSpPr/>
          <p:nvPr/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rgbClr val="DABDBD"/>
          </a:solidFill>
          <a:ln cap="flat" cmpd="sng" w="9525">
            <a:solidFill>
              <a:srgbClr val="DABDBD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"/>
          <p:cNvSpPr txBox="1"/>
          <p:nvPr/>
        </p:nvSpPr>
        <p:spPr>
          <a:xfrm>
            <a:off x="7848600" y="4872922"/>
            <a:ext cx="4023360" cy="13593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0" i="0" lang="ca-E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Pràctiques: Grup 431-02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0" i="0" lang="ca-E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Sprint 01: Requisits Funcionals i No Funcionals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"/>
          <p:cNvSpPr txBox="1"/>
          <p:nvPr>
            <p:ph type="title"/>
          </p:nvPr>
        </p:nvSpPr>
        <p:spPr>
          <a:xfrm>
            <a:off x="1115568" y="548640"/>
            <a:ext cx="10168128" cy="11795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ca-ES"/>
              <a:t>Composició de l’equip </a:t>
            </a:r>
            <a:endParaRPr/>
          </a:p>
        </p:txBody>
      </p:sp>
      <p:sp>
        <p:nvSpPr>
          <p:cNvPr id="119" name="Google Shape;119;p2"/>
          <p:cNvSpPr txBox="1"/>
          <p:nvPr>
            <p:ph idx="12" type="sldNum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968575" y="3679400"/>
            <a:ext cx="20829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ca-ES" sz="1800" u="none" cap="none" strike="noStrike">
                <a:solidFill>
                  <a:schemeClr val="dk1"/>
                </a:solidFill>
              </a:rPr>
              <a:t>Alejandro Ibarra</a:t>
            </a:r>
            <a:endParaRPr i="0" sz="18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ca-ES" sz="1800" u="none" cap="none" strike="noStrike">
                <a:solidFill>
                  <a:schemeClr val="dk1"/>
                </a:solidFill>
              </a:rPr>
              <a:t>Amaro</a:t>
            </a:r>
            <a:endParaRPr i="0" sz="1800" u="none" cap="none" strike="noStrike">
              <a:solidFill>
                <a:schemeClr val="dk1"/>
              </a:solidFill>
            </a:endParaRPr>
          </a:p>
        </p:txBody>
      </p:sp>
      <p:sp>
        <p:nvSpPr>
          <p:cNvPr id="121" name="Google Shape;121;p2"/>
          <p:cNvSpPr txBox="1"/>
          <p:nvPr/>
        </p:nvSpPr>
        <p:spPr>
          <a:xfrm>
            <a:off x="3582275" y="3708013"/>
            <a:ext cx="1354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Marc Sala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Tarré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2"/>
          <p:cNvSpPr txBox="1"/>
          <p:nvPr/>
        </p:nvSpPr>
        <p:spPr>
          <a:xfrm>
            <a:off x="1266388" y="5994100"/>
            <a:ext cx="16251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Martí Pagès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Sánchez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2"/>
          <p:cNvSpPr txBox="1"/>
          <p:nvPr/>
        </p:nvSpPr>
        <p:spPr>
          <a:xfrm>
            <a:off x="3352025" y="5945575"/>
            <a:ext cx="1815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ca-ES" sz="1800" u="none" cap="none" strike="noStrike">
                <a:solidFill>
                  <a:schemeClr val="dk1"/>
                </a:solidFill>
                <a:highlight>
                  <a:srgbClr val="4A86E8"/>
                </a:highlight>
              </a:rPr>
              <a:t>Hug Capafons</a:t>
            </a:r>
            <a:endParaRPr b="1" i="0" sz="1800" u="none" cap="none" strike="noStrike">
              <a:solidFill>
                <a:schemeClr val="dk1"/>
              </a:solidFill>
              <a:highlight>
                <a:srgbClr val="4A86E8"/>
              </a:highlight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ca-ES" sz="1800" u="none" cap="none" strike="noStrike">
                <a:solidFill>
                  <a:schemeClr val="dk1"/>
                </a:solidFill>
                <a:highlight>
                  <a:srgbClr val="4A86E8"/>
                </a:highlight>
              </a:rPr>
              <a:t>Cuadra</a:t>
            </a:r>
            <a:endParaRPr b="1" i="0" sz="1800" u="none" cap="none" strike="noStrike">
              <a:solidFill>
                <a:schemeClr val="dk1"/>
              </a:solidFill>
              <a:highlight>
                <a:srgbClr val="4A86E8"/>
              </a:highlight>
            </a:endParaRPr>
          </a:p>
        </p:txBody>
      </p:sp>
      <p:pic>
        <p:nvPicPr>
          <p:cNvPr id="124" name="Google Shape;124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01648" y="2239850"/>
            <a:ext cx="1354576" cy="1354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"/>
          <p:cNvPicPr preferRelativeResize="0"/>
          <p:nvPr/>
        </p:nvPicPr>
        <p:blipFill rotWithShape="1">
          <a:blip r:embed="rId4">
            <a:alphaModFix/>
          </a:blip>
          <a:srcRect b="0" l="0" r="0" t="12034"/>
          <a:stretch/>
        </p:blipFill>
        <p:spPr>
          <a:xfrm>
            <a:off x="3474325" y="4410850"/>
            <a:ext cx="1555899" cy="15730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534950" y="2182600"/>
            <a:ext cx="1434651" cy="1469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01662" y="4410847"/>
            <a:ext cx="1354575" cy="15730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" title="Team.gif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216975" y="2387299"/>
            <a:ext cx="3606800" cy="360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730441" y="2239849"/>
            <a:ext cx="559175" cy="44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600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"/>
          <p:cNvSpPr txBox="1"/>
          <p:nvPr>
            <p:ph type="title"/>
          </p:nvPr>
        </p:nvSpPr>
        <p:spPr>
          <a:xfrm>
            <a:off x="1115568" y="548640"/>
            <a:ext cx="10168128" cy="11795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ca-ES"/>
              <a:t>Tasques fetes al sprint</a:t>
            </a:r>
            <a:r>
              <a:rPr lang="ca-ES"/>
              <a:t> (1)</a:t>
            </a:r>
            <a:endParaRPr/>
          </a:p>
        </p:txBody>
      </p:sp>
      <p:sp>
        <p:nvSpPr>
          <p:cNvPr id="135" name="Google Shape;135;p3"/>
          <p:cNvSpPr txBox="1"/>
          <p:nvPr>
            <p:ph idx="12" type="sldNum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  <p:sp>
        <p:nvSpPr>
          <p:cNvPr id="136" name="Google Shape;136;p3"/>
          <p:cNvSpPr txBox="1"/>
          <p:nvPr/>
        </p:nvSpPr>
        <p:spPr>
          <a:xfrm>
            <a:off x="597925" y="3079250"/>
            <a:ext cx="56877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>
                <a:solidFill>
                  <a:schemeClr val="dk1"/>
                </a:solidFill>
              </a:rPr>
              <a:t>Tasca 1: Repassar requeriments (Alejandro + Martí)</a:t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>
                <a:solidFill>
                  <a:schemeClr val="dk1"/>
                </a:solidFill>
              </a:rPr>
              <a:t>Tasca 2: CU usuari general (Alejandro)</a:t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>
                <a:solidFill>
                  <a:schemeClr val="dk1"/>
                </a:solidFill>
              </a:rPr>
              <a:t>Tasca 3: CU usuari no registrat (Alejandro)</a:t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>
                <a:solidFill>
                  <a:schemeClr val="dk1"/>
                </a:solidFill>
              </a:rPr>
              <a:t>Tasca 4: CU repartidor (Marc)</a:t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>
                <a:solidFill>
                  <a:schemeClr val="dk1"/>
                </a:solidFill>
              </a:rPr>
              <a:t>Tasca 5: CU client (Marc)</a:t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>
                <a:solidFill>
                  <a:schemeClr val="dk1"/>
                </a:solidFill>
              </a:rPr>
              <a:t>Tasca 6: CU cuiner (Martí)</a:t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>
                <a:solidFill>
                  <a:schemeClr val="dk1"/>
                </a:solidFill>
              </a:rPr>
              <a:t>Tasca 7: Fer el </a:t>
            </a:r>
            <a:r>
              <a:rPr i="1" lang="ca-ES" sz="1800">
                <a:solidFill>
                  <a:schemeClr val="dk1"/>
                </a:solidFill>
              </a:rPr>
              <a:t>burndown chart</a:t>
            </a:r>
            <a:r>
              <a:rPr lang="ca-ES" sz="1800">
                <a:solidFill>
                  <a:schemeClr val="dk1"/>
                </a:solidFill>
              </a:rPr>
              <a:t> (Hug)</a:t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>
                <a:solidFill>
                  <a:schemeClr val="dk1"/>
                </a:solidFill>
              </a:rPr>
              <a:t>Tasca 8: Actualitzar el </a:t>
            </a:r>
            <a:r>
              <a:rPr i="1" lang="ca-ES" sz="1800">
                <a:solidFill>
                  <a:schemeClr val="dk1"/>
                </a:solidFill>
              </a:rPr>
              <a:t>power point</a:t>
            </a:r>
            <a:r>
              <a:rPr lang="ca-ES" sz="1800">
                <a:solidFill>
                  <a:schemeClr val="dk1"/>
                </a:solidFill>
              </a:rPr>
              <a:t> (Hug)</a:t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>
                <a:solidFill>
                  <a:schemeClr val="dk1"/>
                </a:solidFill>
              </a:rPr>
              <a:t>Tasca 9: Agrupar els CU en un sol UML unitari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137" name="Google Shape;137;p3" title="Diary.gif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40500" y="3419741"/>
            <a:ext cx="1905000" cy="190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"/>
          <p:cNvSpPr txBox="1"/>
          <p:nvPr>
            <p:ph type="title"/>
          </p:nvPr>
        </p:nvSpPr>
        <p:spPr>
          <a:xfrm>
            <a:off x="1115568" y="548640"/>
            <a:ext cx="10168128" cy="11795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ca-ES"/>
              <a:t>Perfils d’usuari a l’aplicació QUEMENGES</a:t>
            </a:r>
            <a:endParaRPr/>
          </a:p>
        </p:txBody>
      </p:sp>
      <p:sp>
        <p:nvSpPr>
          <p:cNvPr id="143" name="Google Shape;143;p5"/>
          <p:cNvSpPr txBox="1"/>
          <p:nvPr>
            <p:ph idx="12" type="sldNum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  <p:sp>
        <p:nvSpPr>
          <p:cNvPr id="144" name="Google Shape;144;p5"/>
          <p:cNvSpPr txBox="1"/>
          <p:nvPr/>
        </p:nvSpPr>
        <p:spPr>
          <a:xfrm>
            <a:off x="5697701" y="2225650"/>
            <a:ext cx="5586000" cy="429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17500" lvl="0" marL="45720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</a:pPr>
            <a:r>
              <a:rPr b="1" i="0" lang="ca-E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Client</a:t>
            </a:r>
            <a:r>
              <a:rPr b="0" i="0" lang="ca-E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És el consumidor. Consulta plats o cuiners, realitza i gestiona comandes. Ha de pagar des de l’aplicació QueMenges.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</a:pPr>
            <a:r>
              <a:rPr b="1" i="0" lang="ca-E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Cuiner</a:t>
            </a:r>
            <a:r>
              <a:rPr b="0" i="0" lang="ca-E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Ell prepara i ven el producte. Rep una valoració dels clients i gestiona la seva disponibilitat. Cobra segons el preu dels plats que prepara.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</a:pPr>
            <a:r>
              <a:rPr b="1" i="0" lang="ca-E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Repartidor</a:t>
            </a:r>
            <a:r>
              <a:rPr b="0" i="0" lang="ca-E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S’encarrega de transportar les comandes dels clients, sempre compartint la seva ubicació en temps real. Cobra segons la distància entre el cuiner i el client. Pot ser el propi cuiner.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</a:pPr>
            <a:r>
              <a:rPr b="1" i="0" lang="ca-E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Usuari no registrat</a:t>
            </a:r>
            <a:r>
              <a:rPr b="0" i="0" lang="ca-E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Únicament pot consultar els diferents menús disponibles en aquell moment.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Font typeface="Arial"/>
              <a:buChar char="-"/>
            </a:pPr>
            <a:r>
              <a:rPr b="1" i="0" lang="ca-E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Usuari general</a:t>
            </a:r>
            <a:r>
              <a:rPr b="0" i="0" lang="ca-E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Al contrari que l’usuari no registrat, aquest sí que pot efectuar comandes i afegir o treure rols associats al seu compte.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" name="Google Shape;14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38926" y="3603079"/>
            <a:ext cx="3086100" cy="104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96750" y="4837073"/>
            <a:ext cx="1970450" cy="977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"/>
          <p:cNvSpPr txBox="1"/>
          <p:nvPr>
            <p:ph type="title"/>
          </p:nvPr>
        </p:nvSpPr>
        <p:spPr>
          <a:xfrm>
            <a:off x="1115568" y="548640"/>
            <a:ext cx="10168200" cy="117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ca-ES"/>
              <a:t>Requisits (Usuari no registrat)</a:t>
            </a:r>
            <a:endParaRPr/>
          </a:p>
        </p:txBody>
      </p:sp>
      <p:sp>
        <p:nvSpPr>
          <p:cNvPr id="152" name="Google Shape;152;p6"/>
          <p:cNvSpPr txBox="1"/>
          <p:nvPr>
            <p:ph idx="12" type="sldNum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  <p:sp>
        <p:nvSpPr>
          <p:cNvPr id="153" name="Google Shape;153;p6"/>
          <p:cNvSpPr txBox="1"/>
          <p:nvPr/>
        </p:nvSpPr>
        <p:spPr>
          <a:xfrm>
            <a:off x="5257375" y="3684875"/>
            <a:ext cx="60264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RF-1-01: Consultar diferents menús disponibles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RF-1-03: Els usuaris no registrats poden registrar-se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RF-2-02: Escollir dues vistes possibles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RF-2-03: Cercar plats i cuiners amb cercador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" name="Google Shape;154;p6"/>
          <p:cNvPicPr preferRelativeResize="0"/>
          <p:nvPr/>
        </p:nvPicPr>
        <p:blipFill rotWithShape="1">
          <a:blip r:embed="rId3">
            <a:alphaModFix/>
          </a:blip>
          <a:srcRect b="4536" l="5560" r="8241" t="3273"/>
          <a:stretch/>
        </p:blipFill>
        <p:spPr>
          <a:xfrm>
            <a:off x="632775" y="2716100"/>
            <a:ext cx="4453325" cy="31381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"/>
          <p:cNvSpPr txBox="1"/>
          <p:nvPr>
            <p:ph type="title"/>
          </p:nvPr>
        </p:nvSpPr>
        <p:spPr>
          <a:xfrm>
            <a:off x="1115568" y="548640"/>
            <a:ext cx="10168200" cy="117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ca-ES"/>
              <a:t>Requisits (Usuari registrat)</a:t>
            </a:r>
            <a:endParaRPr/>
          </a:p>
        </p:txBody>
      </p:sp>
      <p:sp>
        <p:nvSpPr>
          <p:cNvPr id="160" name="Google Shape;160;p7"/>
          <p:cNvSpPr txBox="1"/>
          <p:nvPr>
            <p:ph idx="12" type="sldNum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  <p:sp>
        <p:nvSpPr>
          <p:cNvPr id="161" name="Google Shape;161;p7"/>
          <p:cNvSpPr txBox="1"/>
          <p:nvPr/>
        </p:nvSpPr>
        <p:spPr>
          <a:xfrm>
            <a:off x="334200" y="2021325"/>
            <a:ext cx="109497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ca-ES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El usuari registrat pot fer tot el que fa l’usuari no registrat i pot, segons el perfil utilitzat, fer ús de les funcions dels altres perfils</a:t>
            </a:r>
            <a:endParaRPr b="1" i="0" sz="1800" u="none" cap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713350" y="3281875"/>
            <a:ext cx="6554400" cy="22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RF-1-06: Els usuaris han de poder omplir el perfil amb la seva informació (adreça, restriccions alimentàries i nom)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RF-1-09: El perfil d’usuari pot ser modificat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RF-1-10: L’usuari pot donar-se de baixa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RF-1-11: L’usuari pot assumir els tres rols (usuari, cuiner, repartidor)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RF-4-2: Cada usuari haurà de tenir un compte bancari vinculat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3" name="Google Shape;16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28150" y="2820213"/>
            <a:ext cx="2590430" cy="3383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 txBox="1"/>
          <p:nvPr>
            <p:ph type="title"/>
          </p:nvPr>
        </p:nvSpPr>
        <p:spPr>
          <a:xfrm>
            <a:off x="1115568" y="548640"/>
            <a:ext cx="10168128" cy="11795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ca-ES"/>
              <a:t>Requisits (Client)</a:t>
            </a:r>
            <a:endParaRPr/>
          </a:p>
        </p:txBody>
      </p:sp>
      <p:sp>
        <p:nvSpPr>
          <p:cNvPr id="169" name="Google Shape;169;p8"/>
          <p:cNvSpPr txBox="1"/>
          <p:nvPr>
            <p:ph idx="12" type="sldNum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  <p:sp>
        <p:nvSpPr>
          <p:cNvPr id="170" name="Google Shape;170;p8"/>
          <p:cNvSpPr txBox="1"/>
          <p:nvPr/>
        </p:nvSpPr>
        <p:spPr>
          <a:xfrm>
            <a:off x="276200" y="2891275"/>
            <a:ext cx="7579800" cy="35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RF-1-03: S'hauran de poder reservar comandes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RNF-2-01 (decisió de disseny): S’hauran de mostrar les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diferents opcions segons la distància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RF-2-06: S’hauran de poder eliminar ingredients opcionals.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RNF-2-02 (rendiment estàtic) : Ha d’haver-hi un màxim de comandes simultàniament actives (3)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RF-2-08/09: S’han de poder consultar i repetir comandes prèvies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RF-3-03: S’ha de poder fer un seguiment de cada comanda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RF-5-01: S’ha de poder valorar cada comanda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RF-6-05/06: Els clients s’han de poder subscriure a un pla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ca-E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mensual, que aporta diversos beneficis (tarifa plana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ca-E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 enviaments, punts)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1" name="Google Shape;17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04900" y="3057091"/>
            <a:ext cx="3878799" cy="2700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"/>
          <p:cNvSpPr txBox="1"/>
          <p:nvPr>
            <p:ph type="title"/>
          </p:nvPr>
        </p:nvSpPr>
        <p:spPr>
          <a:xfrm>
            <a:off x="1115568" y="548640"/>
            <a:ext cx="10168200" cy="117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ca-ES"/>
              <a:t>Requisits (Repartidor)</a:t>
            </a:r>
            <a:endParaRPr/>
          </a:p>
        </p:txBody>
      </p:sp>
      <p:sp>
        <p:nvSpPr>
          <p:cNvPr id="177" name="Google Shape;177;p9"/>
          <p:cNvSpPr txBox="1"/>
          <p:nvPr>
            <p:ph idx="12" type="sldNum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  <p:sp>
        <p:nvSpPr>
          <p:cNvPr id="178" name="Google Shape;178;p9"/>
          <p:cNvSpPr txBox="1"/>
          <p:nvPr/>
        </p:nvSpPr>
        <p:spPr>
          <a:xfrm>
            <a:off x="428601" y="2198725"/>
            <a:ext cx="5738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9" name="Google Shape;17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738" y="3129710"/>
            <a:ext cx="4284125" cy="2409826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9"/>
          <p:cNvSpPr txBox="1"/>
          <p:nvPr/>
        </p:nvSpPr>
        <p:spPr>
          <a:xfrm>
            <a:off x="6085300" y="3489681"/>
            <a:ext cx="5198400" cy="16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RF-3-01: El repartidor pot decidir portar la comanda ell mateix.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RF-3-05: El repartidor podrà veure quines comandes li queden per repartir.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RF-3-06: El repartidor podrà veure i acceptar ofertes de comandes per a repartir.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"/>
          <p:cNvSpPr txBox="1"/>
          <p:nvPr>
            <p:ph type="title"/>
          </p:nvPr>
        </p:nvSpPr>
        <p:spPr>
          <a:xfrm>
            <a:off x="1115568" y="548640"/>
            <a:ext cx="10168200" cy="117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ca-ES"/>
              <a:t>Requisits (Cuiner) </a:t>
            </a:r>
            <a:endParaRPr/>
          </a:p>
        </p:txBody>
      </p:sp>
      <p:sp>
        <p:nvSpPr>
          <p:cNvPr id="186" name="Google Shape;186;p10"/>
          <p:cNvSpPr txBox="1"/>
          <p:nvPr>
            <p:ph idx="12" type="sldNum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  <p:sp>
        <p:nvSpPr>
          <p:cNvPr id="187" name="Google Shape;187;p10"/>
          <p:cNvSpPr txBox="1"/>
          <p:nvPr/>
        </p:nvSpPr>
        <p:spPr>
          <a:xfrm>
            <a:off x="445526" y="3041945"/>
            <a:ext cx="5637000" cy="28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175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RF-2-04: Han de poder indicar que no estan disponibles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RF-6-01: Els cuiners tindran accés a un menú on es mostraran els plats proposats pels clients.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RNF-6-01  (Restricció de disseny de seguretat): Només els cuiners tindran accés a aquest menú.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RF-6-02: Els cuiners podran acceptar aquestes propostes i comprometre’s a cuinar-les.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ca-E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RF-6-03: Podran parlar amb els clients per un xat.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8" name="Google Shape;18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86000" y="2761172"/>
            <a:ext cx="4097775" cy="307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86000" y="2783775"/>
            <a:ext cx="4097775" cy="3073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1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1"/>
          <p:cNvSpPr txBox="1"/>
          <p:nvPr>
            <p:ph type="title"/>
          </p:nvPr>
        </p:nvSpPr>
        <p:spPr>
          <a:xfrm>
            <a:off x="1115568" y="548640"/>
            <a:ext cx="10168200" cy="117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ca-ES"/>
              <a:t>Burn-down chart</a:t>
            </a:r>
            <a:endParaRPr/>
          </a:p>
        </p:txBody>
      </p:sp>
      <p:sp>
        <p:nvSpPr>
          <p:cNvPr id="195" name="Google Shape;195;p11"/>
          <p:cNvSpPr txBox="1"/>
          <p:nvPr>
            <p:ph idx="12" type="sldNum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  <p:sp>
        <p:nvSpPr>
          <p:cNvPr id="196" name="Google Shape;196;p11"/>
          <p:cNvSpPr txBox="1"/>
          <p:nvPr/>
        </p:nvSpPr>
        <p:spPr>
          <a:xfrm>
            <a:off x="428603" y="2198728"/>
            <a:ext cx="11266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7" name="Google Shape;197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58275" y="2440528"/>
            <a:ext cx="6075462" cy="39851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med">
        <p14:prism dir="l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2"/>
          <p:cNvSpPr txBox="1"/>
          <p:nvPr>
            <p:ph type="title"/>
          </p:nvPr>
        </p:nvSpPr>
        <p:spPr>
          <a:xfrm>
            <a:off x="1115568" y="548640"/>
            <a:ext cx="10168200" cy="117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ca-ES"/>
              <a:t>Trello</a:t>
            </a:r>
            <a:endParaRPr/>
          </a:p>
        </p:txBody>
      </p:sp>
      <p:sp>
        <p:nvSpPr>
          <p:cNvPr id="203" name="Google Shape;203;p12"/>
          <p:cNvSpPr txBox="1"/>
          <p:nvPr>
            <p:ph idx="12" type="sldNum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  <p:sp>
        <p:nvSpPr>
          <p:cNvPr id="204" name="Google Shape;204;p12"/>
          <p:cNvSpPr txBox="1"/>
          <p:nvPr/>
        </p:nvSpPr>
        <p:spPr>
          <a:xfrm>
            <a:off x="428603" y="2198728"/>
            <a:ext cx="11266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" name="Google Shape;205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56938" y="2260925"/>
            <a:ext cx="6678137" cy="4195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3"/>
          <p:cNvSpPr txBox="1"/>
          <p:nvPr>
            <p:ph type="title"/>
          </p:nvPr>
        </p:nvSpPr>
        <p:spPr>
          <a:xfrm>
            <a:off x="1115568" y="548640"/>
            <a:ext cx="10168200" cy="117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</a:pPr>
            <a:r>
              <a:rPr lang="ca-ES"/>
              <a:t>Links:</a:t>
            </a:r>
            <a:endParaRPr/>
          </a:p>
        </p:txBody>
      </p:sp>
      <p:sp>
        <p:nvSpPr>
          <p:cNvPr id="212" name="Google Shape;212;p13"/>
          <p:cNvSpPr txBox="1"/>
          <p:nvPr>
            <p:ph idx="1" type="body"/>
          </p:nvPr>
        </p:nvSpPr>
        <p:spPr>
          <a:xfrm>
            <a:off x="1115575" y="2478025"/>
            <a:ext cx="5356200" cy="32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ca-ES" u="sng">
                <a:solidFill>
                  <a:schemeClr val="hlink"/>
                </a:solidFill>
                <a:hlinkClick r:id="rId3"/>
              </a:rPr>
              <a:t>https://github.com/martipages/ES23UAB431-02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ca-ES" u="sng">
                <a:solidFill>
                  <a:schemeClr val="hlink"/>
                </a:solidFill>
                <a:hlinkClick r:id="rId4"/>
              </a:rPr>
              <a:t>https://trello.com/invite/scrum437/ATTIc166beb62bacfa5bbf853a2924096fefE73BEFBC</a:t>
            </a:r>
            <a:endParaRPr/>
          </a:p>
        </p:txBody>
      </p:sp>
      <p:sp>
        <p:nvSpPr>
          <p:cNvPr id="213" name="Google Shape;213;p13"/>
          <p:cNvSpPr txBox="1"/>
          <p:nvPr>
            <p:ph idx="12" type="sldNum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  <p:pic>
        <p:nvPicPr>
          <p:cNvPr id="214" name="Google Shape;214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0897" y="3779125"/>
            <a:ext cx="1272800" cy="1381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166150" y="2429911"/>
            <a:ext cx="1998175" cy="199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283275" y="4699011"/>
            <a:ext cx="1763921" cy="17639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med">
        <p14:prism dir="l"/>
      </p:transition>
    </mc:Choice>
    <mc:Fallback>
      <p:transition spd="med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4"/>
          <p:cNvSpPr txBox="1"/>
          <p:nvPr>
            <p:ph type="title"/>
          </p:nvPr>
        </p:nvSpPr>
        <p:spPr>
          <a:xfrm>
            <a:off x="1115568" y="548640"/>
            <a:ext cx="10168200" cy="117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</a:pPr>
            <a:r>
              <a:rPr lang="ca-ES"/>
              <a:t>Gràcies per l’atenció!</a:t>
            </a:r>
            <a:endParaRPr/>
          </a:p>
        </p:txBody>
      </p:sp>
      <p:sp>
        <p:nvSpPr>
          <p:cNvPr id="223" name="Google Shape;223;p14"/>
          <p:cNvSpPr txBox="1"/>
          <p:nvPr>
            <p:ph idx="12" type="sldNum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  <p:pic>
        <p:nvPicPr>
          <p:cNvPr id="224" name="Google Shape;224;p14" title="heart.gif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75" y="2473309"/>
            <a:ext cx="3707350" cy="3707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08925" y="548650"/>
            <a:ext cx="1179600" cy="117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76725" y="308474"/>
            <a:ext cx="1270774" cy="1659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12700" y="5117050"/>
            <a:ext cx="1718883" cy="147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14" title="h9w9d1i28baf1.gif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38900" y="2061575"/>
            <a:ext cx="3363875" cy="336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14" title="deltarune-tenna.gif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540494" y="3120475"/>
            <a:ext cx="2743200" cy="274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mph" presetID="8" presetSubtype="0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dur="100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700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9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700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5" name="Google Shape;235;p15"/>
          <p:cNvPicPr preferRelativeResize="0"/>
          <p:nvPr/>
        </p:nvPicPr>
        <p:blipFill rotWithShape="1">
          <a:blip r:embed="rId3">
            <a:alphaModFix/>
          </a:blip>
          <a:srcRect b="-1" l="0" r="-1" t="1108"/>
          <a:stretch/>
        </p:blipFill>
        <p:spPr>
          <a:xfrm>
            <a:off x="20" y="10"/>
            <a:ext cx="8668492" cy="685799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15"/>
          <p:cNvSpPr/>
          <p:nvPr/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39"/>
                </a:srgbClr>
              </a:gs>
              <a:gs pos="35000">
                <a:srgbClr val="FFFFFF">
                  <a:alpha val="76862"/>
                </a:srgbClr>
              </a:gs>
              <a:gs pos="48000">
                <a:schemeClr val="lt1"/>
              </a:gs>
              <a:gs pos="100000">
                <a:schemeClr val="lt1"/>
              </a:gs>
            </a:gsLst>
            <a:lin ang="10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5"/>
          <p:cNvSpPr txBox="1"/>
          <p:nvPr>
            <p:ph type="ctrTitle"/>
          </p:nvPr>
        </p:nvSpPr>
        <p:spPr>
          <a:xfrm>
            <a:off x="7848600" y="1122363"/>
            <a:ext cx="4023360" cy="320413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ca-ES" sz="4800"/>
              <a:t>Enginyeria del Software</a:t>
            </a:r>
            <a:endParaRPr/>
          </a:p>
        </p:txBody>
      </p:sp>
      <p:sp>
        <p:nvSpPr>
          <p:cNvPr id="238" name="Google Shape;238;p15"/>
          <p:cNvSpPr/>
          <p:nvPr/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5"/>
          <p:cNvSpPr/>
          <p:nvPr/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rgbClr val="DABDBD"/>
          </a:solidFill>
          <a:ln cap="flat" cmpd="sng" w="9525">
            <a:solidFill>
              <a:srgbClr val="DABDBD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5"/>
          <p:cNvSpPr txBox="1"/>
          <p:nvPr/>
        </p:nvSpPr>
        <p:spPr>
          <a:xfrm>
            <a:off x="7848600" y="4872922"/>
            <a:ext cx="4023360" cy="13593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0" i="0" lang="ca-E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Pràctiques: Grup 431-02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0" i="0" lang="ca-E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Sprint 0</a:t>
            </a:r>
            <a:r>
              <a:rPr lang="ca-ES">
                <a:solidFill>
                  <a:schemeClr val="dk1"/>
                </a:solidFill>
              </a:rPr>
              <a:t>2: diagrames UML i casos d’ús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5000">
        <p14:prism dir="l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