
<file path=[Content_Types].xml><?xml version="1.0" encoding="utf-8"?>
<Types xmlns="http://schemas.openxmlformats.org/package/2006/content-types">
  <Default ContentType="image/jpeg" Extension="jpg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 showSpecialPlsOnTitleSld="0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6" roundtripDataSignature="AMtx7miEvH7O8Elb1LaL0UH/sAuEwzyR+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6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ca-E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5" name="Google Shape;105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6" name="Google Shape;116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1" name="Google Shape;131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ddf1c1ee9f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9" name="Google Shape;139;g3ddf1c1ee9f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7" name="Google Shape;147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6" name="Google Shape;15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bc58e8bb6_0_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5" name="Google Shape;165;g3dbc58e8bb6_0_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g3dbc58e8bb6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cuiner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usuari general + usuari no registrat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client + repartidor (marc)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repassar reqs + juntar UMLs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ca-ES"/>
              <a:t>ppt + burndown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3" name="Google Shape;173;g3dbc58e8bb6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3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2" name="Google Shape;182;p13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2" name="Google Shape;192;p1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3" name="Google Shape;193;p1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5" name="Google Shape;205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21" name="Google Shape;21;p17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7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DABDBD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8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8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" name="Google Shape;27;p1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8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9" name="Google Shape;29;p18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9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19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19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9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7" name="Google Shape;37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0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" name="Google Shape;44;p2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20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6" name="Google Shape;46;p20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7" name="Google Shape;47;p20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1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21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21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6" name="Google Shape;56;p21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7" name="Google Shape;57;p21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8" name="Google Shape;58;p21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21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22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BC9C9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22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22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4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24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24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8" name="Google Shape;78;p24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9" name="Google Shape;79;p24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5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F1E3E3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30196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" name="Google Shape;84;p25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25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25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7" name="Google Shape;87;p25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8" name="Google Shape;88;p25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0" name="Google Shape;90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3" name="Google Shape;93;p26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4" name="Google Shape;94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7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7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2" name="Google Shape;102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6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8.png"/><Relationship Id="rId5" Type="http://schemas.openxmlformats.org/officeDocument/2006/relationships/image" Target="../media/image14.png"/><Relationship Id="rId6" Type="http://schemas.openxmlformats.org/officeDocument/2006/relationships/image" Target="../media/image6.png"/><Relationship Id="rId7" Type="http://schemas.openxmlformats.org/officeDocument/2006/relationships/image" Target="../media/image12.gif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gif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gif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martipages/ES23UAB431-02" TargetMode="External"/><Relationship Id="rId4" Type="http://schemas.openxmlformats.org/officeDocument/2006/relationships/hyperlink" Target="https://trello.com/invite/scrum437/ATTIc166beb62bacfa5bbf853a2924096fefE73BEFBC" TargetMode="External"/><Relationship Id="rId5" Type="http://schemas.openxmlformats.org/officeDocument/2006/relationships/image" Target="../media/image19.png"/><Relationship Id="rId6" Type="http://schemas.openxmlformats.org/officeDocument/2006/relationships/image" Target="../media/image2.png"/><Relationship Id="rId7" Type="http://schemas.openxmlformats.org/officeDocument/2006/relationships/image" Target="../media/image20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gif"/><Relationship Id="rId4" Type="http://schemas.openxmlformats.org/officeDocument/2006/relationships/image" Target="../media/image15.png"/><Relationship Id="rId5" Type="http://schemas.openxmlformats.org/officeDocument/2006/relationships/image" Target="../media/image21.png"/><Relationship Id="rId6" Type="http://schemas.openxmlformats.org/officeDocument/2006/relationships/image" Target="../media/image17.png"/><Relationship Id="rId7" Type="http://schemas.openxmlformats.org/officeDocument/2006/relationships/image" Target="../media/image7.gif"/><Relationship Id="rId8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1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111" name="Google Shape;111;p1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1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431-02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lang="ca-ES">
                <a:solidFill>
                  <a:schemeClr val="dk1"/>
                </a:solidFill>
              </a:rPr>
              <a:t>Sprint 02: diagrames UML i casos d’ús</a:t>
            </a:r>
            <a:endParaRPr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Composició de l’equip </a:t>
            </a:r>
            <a:endParaRPr/>
          </a:p>
        </p:txBody>
      </p:sp>
      <p:sp>
        <p:nvSpPr>
          <p:cNvPr id="119" name="Google Shape;119;p2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968575" y="3679400"/>
            <a:ext cx="20829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ca-ES" sz="1800" u="none" cap="none" strike="noStrike">
                <a:solidFill>
                  <a:schemeClr val="dk1"/>
                </a:solidFill>
              </a:rPr>
              <a:t>Alejandro Ibarra</a:t>
            </a:r>
            <a:endParaRPr i="0" sz="1800" u="none" cap="none" strike="noStrike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i="0" lang="ca-ES" sz="1800" u="none" cap="none" strike="noStrike">
                <a:solidFill>
                  <a:schemeClr val="dk1"/>
                </a:solidFill>
              </a:rPr>
              <a:t>Amaro</a:t>
            </a:r>
            <a:endParaRPr i="0" sz="1800" u="none" cap="none" strike="noStrike">
              <a:solidFill>
                <a:schemeClr val="dk1"/>
              </a:solidFill>
            </a:endParaRPr>
          </a:p>
        </p:txBody>
      </p:sp>
      <p:sp>
        <p:nvSpPr>
          <p:cNvPr id="121" name="Google Shape;121;p2"/>
          <p:cNvSpPr txBox="1"/>
          <p:nvPr/>
        </p:nvSpPr>
        <p:spPr>
          <a:xfrm>
            <a:off x="3582275" y="3708013"/>
            <a:ext cx="135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Marc Sala 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Tarré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2"/>
          <p:cNvSpPr txBox="1"/>
          <p:nvPr/>
        </p:nvSpPr>
        <p:spPr>
          <a:xfrm>
            <a:off x="1266388" y="5994100"/>
            <a:ext cx="16251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Martí Pagès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ca-E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Sánchez</a:t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2"/>
          <p:cNvSpPr txBox="1"/>
          <p:nvPr/>
        </p:nvSpPr>
        <p:spPr>
          <a:xfrm>
            <a:off x="3352025" y="5945575"/>
            <a:ext cx="1815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ca-ES" sz="1800" u="none" cap="none" strike="noStrike">
                <a:solidFill>
                  <a:schemeClr val="dk1"/>
                </a:solidFill>
                <a:highlight>
                  <a:srgbClr val="4A86E8"/>
                </a:highlight>
              </a:rPr>
              <a:t>Hug Capafons</a:t>
            </a:r>
            <a:endParaRPr b="1" i="0" sz="1800" u="none" cap="none" strike="noStrike">
              <a:solidFill>
                <a:schemeClr val="dk1"/>
              </a:solidFill>
              <a:highlight>
                <a:srgbClr val="4A86E8"/>
              </a:highlight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ca-ES" sz="1800" u="none" cap="none" strike="noStrike">
                <a:solidFill>
                  <a:schemeClr val="dk1"/>
                </a:solidFill>
                <a:highlight>
                  <a:srgbClr val="4A86E8"/>
                </a:highlight>
              </a:rPr>
              <a:t>Cuadra</a:t>
            </a:r>
            <a:endParaRPr b="1" i="0" sz="1800" u="none" cap="none" strike="noStrike">
              <a:solidFill>
                <a:schemeClr val="dk1"/>
              </a:solidFill>
              <a:highlight>
                <a:srgbClr val="4A86E8"/>
              </a:highlight>
            </a:endParaRPr>
          </a:p>
        </p:txBody>
      </p:sp>
      <p:pic>
        <p:nvPicPr>
          <p:cNvPr id="124" name="Google Shape;12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1648" y="2239850"/>
            <a:ext cx="1354576" cy="13545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2"/>
          <p:cNvPicPr preferRelativeResize="0"/>
          <p:nvPr/>
        </p:nvPicPr>
        <p:blipFill rotWithShape="1">
          <a:blip r:embed="rId4">
            <a:alphaModFix/>
          </a:blip>
          <a:srcRect b="0" l="0" r="0" t="12034"/>
          <a:stretch/>
        </p:blipFill>
        <p:spPr>
          <a:xfrm>
            <a:off x="3474325" y="4410850"/>
            <a:ext cx="1555899" cy="1573048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534950" y="2182600"/>
            <a:ext cx="1434651" cy="1469076"/>
          </a:xfrm>
          <a:prstGeom prst="rect">
            <a:avLst/>
          </a:prstGeom>
          <a:noFill/>
          <a:ln>
            <a:noFill/>
          </a:ln>
        </p:spPr>
      </p:pic>
      <p:pic>
        <p:nvPicPr>
          <p:cNvPr id="127" name="Google Shape;127;p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401662" y="4410847"/>
            <a:ext cx="1354575" cy="157305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8" name="Google Shape;128;p2" title="Team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16975" y="2387299"/>
            <a:ext cx="3606800" cy="3606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</a:t>
            </a:r>
            <a:endParaRPr/>
          </a:p>
        </p:txBody>
      </p:sp>
      <p:sp>
        <p:nvSpPr>
          <p:cNvPr id="134" name="Google Shape;134;p3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35" name="Google Shape;135;p3"/>
          <p:cNvSpPr txBox="1"/>
          <p:nvPr/>
        </p:nvSpPr>
        <p:spPr>
          <a:xfrm>
            <a:off x="597925" y="3079250"/>
            <a:ext cx="56877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1: Repassar requeriments (Alejandro + Martí)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2: CU usuari general (Alejandro)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3: CU usuari no registrat (Alejandro)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4: CU repartidor (Marc)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5: CU client (Marc)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6: CU cuiner (Martí)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7: Fer el </a:t>
            </a:r>
            <a:r>
              <a:rPr i="1" lang="ca-ES" sz="1800">
                <a:solidFill>
                  <a:schemeClr val="dk1"/>
                </a:solidFill>
              </a:rPr>
              <a:t>burndown chart</a:t>
            </a:r>
            <a:r>
              <a:rPr lang="ca-ES" sz="1800">
                <a:solidFill>
                  <a:schemeClr val="dk1"/>
                </a:solidFill>
              </a:rPr>
              <a:t> 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8: Actualitzar el </a:t>
            </a:r>
            <a:r>
              <a:rPr i="1" lang="ca-ES" sz="1800">
                <a:solidFill>
                  <a:schemeClr val="dk1"/>
                </a:solidFill>
              </a:rPr>
              <a:t>power point</a:t>
            </a:r>
            <a:r>
              <a:rPr lang="ca-ES" sz="1800">
                <a:solidFill>
                  <a:schemeClr val="dk1"/>
                </a:solidFill>
              </a:rPr>
              <a:t> 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9: Agrupar els CU en un sol UML unitari (Hug)</a:t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36" name="Google Shape;136;p3" title="Diar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ddf1c1ee9f_0_0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Tasques fetes al sprint </a:t>
            </a:r>
            <a:r>
              <a:rPr lang="ca-ES" sz="2500"/>
              <a:t>(Aplicació del </a:t>
            </a:r>
            <a:r>
              <a:rPr i="1" lang="ca-ES" sz="2500"/>
              <a:t>feedback</a:t>
            </a:r>
            <a:r>
              <a:rPr lang="ca-ES" sz="2500"/>
              <a:t>)</a:t>
            </a:r>
            <a:endParaRPr sz="2500"/>
          </a:p>
        </p:txBody>
      </p:sp>
      <p:sp>
        <p:nvSpPr>
          <p:cNvPr id="142" name="Google Shape;142;g3ddf1c1ee9f_0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43" name="Google Shape;143;g3ddf1c1ee9f_0_0"/>
          <p:cNvSpPr txBox="1"/>
          <p:nvPr/>
        </p:nvSpPr>
        <p:spPr>
          <a:xfrm>
            <a:off x="597925" y="3079250"/>
            <a:ext cx="94305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10: Captura de feedback (Marc Sala)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11: Aplicar feedback a l’UML general (Marc + Alejandro + Martí)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12: Actualitzar </a:t>
            </a:r>
            <a:r>
              <a:rPr i="1" lang="ca-ES" sz="1800">
                <a:solidFill>
                  <a:schemeClr val="dk1"/>
                </a:solidFill>
              </a:rPr>
              <a:t>burndown chart </a:t>
            </a:r>
            <a:r>
              <a:rPr lang="ca-ES" sz="1800">
                <a:solidFill>
                  <a:schemeClr val="dk1"/>
                </a:solidFill>
              </a:rPr>
              <a:t>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ca-ES" sz="1800">
                <a:solidFill>
                  <a:schemeClr val="dk1"/>
                </a:solidFill>
              </a:rPr>
              <a:t>Tasca 13: Actualitzar presentació (Hug)</a:t>
            </a:r>
            <a:endParaRPr sz="1800">
              <a:solidFill>
                <a:schemeClr val="dk1"/>
              </a:solidFill>
            </a:endParaRPr>
          </a:p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sz="1800">
              <a:solidFill>
                <a:schemeClr val="dk1"/>
              </a:solidFill>
            </a:endParaRPr>
          </a:p>
        </p:txBody>
      </p:sp>
      <p:pic>
        <p:nvPicPr>
          <p:cNvPr id="144" name="Google Shape;144;g3ddf1c1ee9f_0_0" title="Diary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40500" y="3419741"/>
            <a:ext cx="1905000" cy="190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ca-ES"/>
              <a:t>Perfils d’usuari a l’aplicació QUEMENGES</a:t>
            </a:r>
            <a:endParaRPr/>
          </a:p>
        </p:txBody>
      </p:sp>
      <p:sp>
        <p:nvSpPr>
          <p:cNvPr id="150" name="Google Shape;150;p5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51" name="Google Shape;151;p5"/>
          <p:cNvSpPr txBox="1"/>
          <p:nvPr/>
        </p:nvSpPr>
        <p:spPr>
          <a:xfrm>
            <a:off x="5697701" y="2225650"/>
            <a:ext cx="5586000" cy="42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Client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És el consumidor. Consulta plats o cuiners, realitza i gestiona comandes. Ha de pagar des de l’aplicació QueMenges.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Cuiner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Ell prepara i ven el producte. Rep una valoració dels clients i gestiona la seva disponibilitat. Cobra segons el preu dels plats que prepara.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Repartidor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S’encarrega de transportar les comandes dels clients, sempre compartint la seva ubicació en temps real. Cobra segons la distància entre el cuiner i el client. Pot ser el propi cuiner.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no registrat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Únicament pot consultar els diferents menús disponibles en aquell moment.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marR="0" rtl="0" algn="just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Font typeface="Arial"/>
              <a:buChar char="-"/>
            </a:pPr>
            <a:r>
              <a:rPr b="1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Usuari general</a:t>
            </a: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Al contrari que l’usuari no registrat, aquest sí que pot efectuar comandes i afegir o treure rols associats al seu compte.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2" name="Google Shape;15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38926" y="3603079"/>
            <a:ext cx="3086100" cy="104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3" name="Google Shape;15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096750" y="4837073"/>
            <a:ext cx="1970450" cy="977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Diagrama de casos d’ús</a:t>
            </a:r>
            <a:endParaRPr/>
          </a:p>
        </p:txBody>
      </p:sp>
      <p:sp>
        <p:nvSpPr>
          <p:cNvPr id="159" name="Google Shape;159;p11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0" name="Google Shape;160;p11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1" name="Google Shape;161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43850" y="2568028"/>
            <a:ext cx="8235694" cy="3852439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1"/>
          <p:cNvSpPr txBox="1"/>
          <p:nvPr/>
        </p:nvSpPr>
        <p:spPr>
          <a:xfrm>
            <a:off x="608125" y="2386375"/>
            <a:ext cx="2635500" cy="358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ca-ES">
                <a:solidFill>
                  <a:schemeClr val="dk1"/>
                </a:solidFill>
                <a:highlight>
                  <a:srgbClr val="F1E3E3"/>
                </a:highlight>
              </a:rPr>
              <a:t>Canvis aplicats:</a:t>
            </a:r>
            <a:endParaRPr b="1">
              <a:solidFill>
                <a:schemeClr val="dk1"/>
              </a:solidFill>
              <a:highlight>
                <a:srgbClr val="F1E3E3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ca-ES">
                <a:solidFill>
                  <a:schemeClr val="dk1"/>
                </a:solidFill>
                <a:highlight>
                  <a:srgbClr val="F1E3E3"/>
                </a:highlight>
              </a:rPr>
              <a:t>Afegides entitats externes com a clients</a:t>
            </a:r>
            <a:endParaRPr>
              <a:solidFill>
                <a:schemeClr val="dk1"/>
              </a:solidFill>
              <a:highlight>
                <a:srgbClr val="F1E3E3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ca-ES">
                <a:solidFill>
                  <a:schemeClr val="dk1"/>
                </a:solidFill>
                <a:highlight>
                  <a:srgbClr val="F1E3E3"/>
                </a:highlight>
              </a:rPr>
              <a:t> </a:t>
            </a:r>
            <a:endParaRPr>
              <a:solidFill>
                <a:schemeClr val="dk1"/>
              </a:solidFill>
              <a:highlight>
                <a:srgbClr val="F1E3E3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ca-ES">
                <a:solidFill>
                  <a:schemeClr val="dk1"/>
                </a:solidFill>
                <a:highlight>
                  <a:srgbClr val="F1E3E3"/>
                </a:highlight>
              </a:rPr>
              <a:t>Corregida la direcció d’algunes línies de dependències, includes i extends</a:t>
            </a:r>
            <a:endParaRPr>
              <a:solidFill>
                <a:schemeClr val="dk1"/>
              </a:solidFill>
              <a:highlight>
                <a:srgbClr val="F1E3E3"/>
              </a:highlight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highlight>
                <a:srgbClr val="F1E3E3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ca-ES">
                <a:solidFill>
                  <a:schemeClr val="dk1"/>
                </a:solidFill>
                <a:highlight>
                  <a:srgbClr val="F1E3E3"/>
                </a:highlight>
              </a:rPr>
              <a:t>Eliminat un include redundant </a:t>
            </a:r>
            <a:endParaRPr>
              <a:solidFill>
                <a:schemeClr val="dk1"/>
              </a:solidFill>
              <a:highlight>
                <a:srgbClr val="F1E3E3"/>
              </a:highlight>
            </a:endParaRPr>
          </a:p>
        </p:txBody>
      </p:sp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bc58e8bb6_0_8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68" name="Google Shape;168;g3dbc58e8bb6_0_8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g3dbc58e8bb6_0_8"/>
          <p:cNvSpPr/>
          <p:nvPr/>
        </p:nvSpPr>
        <p:spPr>
          <a:xfrm>
            <a:off x="11184800" y="0"/>
            <a:ext cx="1007100" cy="2244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0" name="Google Shape;170;g3dbc58e8bb6_0_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613099"/>
            <a:ext cx="12039598" cy="56318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dbc58e8bb6_0_0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ca-ES"/>
              <a:t>Burn-down chart</a:t>
            </a:r>
            <a:endParaRPr/>
          </a:p>
        </p:txBody>
      </p:sp>
      <p:sp>
        <p:nvSpPr>
          <p:cNvPr id="176" name="Google Shape;176;g3dbc58e8bb6_0_0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sp>
        <p:nvSpPr>
          <p:cNvPr id="177" name="Google Shape;177;g3dbc58e8bb6_0_0"/>
          <p:cNvSpPr txBox="1"/>
          <p:nvPr/>
        </p:nvSpPr>
        <p:spPr>
          <a:xfrm>
            <a:off x="428603" y="2198728"/>
            <a:ext cx="11266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just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8" name="Google Shape;178;g3dbc58e8bb6_0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94363" y="2118875"/>
            <a:ext cx="6803275" cy="4657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/>
              <a:t>Links:</a:t>
            </a:r>
            <a:endParaRPr/>
          </a:p>
        </p:txBody>
      </p:sp>
      <p:sp>
        <p:nvSpPr>
          <p:cNvPr id="185" name="Google Shape;185;p13"/>
          <p:cNvSpPr txBox="1"/>
          <p:nvPr>
            <p:ph idx="1" type="body"/>
          </p:nvPr>
        </p:nvSpPr>
        <p:spPr>
          <a:xfrm>
            <a:off x="1115575" y="2478025"/>
            <a:ext cx="5356200" cy="328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>
                <a:solidFill>
                  <a:schemeClr val="hlink"/>
                </a:solidFill>
                <a:hlinkClick r:id="rId3"/>
              </a:rPr>
              <a:t>https://github.com/martipages/ES23UAB431-02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None/>
            </a:pPr>
            <a:r>
              <a:rPr lang="ca-ES" u="sng">
                <a:solidFill>
                  <a:schemeClr val="hlink"/>
                </a:solidFill>
                <a:hlinkClick r:id="rId4"/>
              </a:rPr>
              <a:t>https://trello.com/invite/scrum437/ATTIc166beb62bacfa5bbf853a2924096fefE73BEFBC</a:t>
            </a:r>
            <a:endParaRPr/>
          </a:p>
        </p:txBody>
      </p:sp>
      <p:sp>
        <p:nvSpPr>
          <p:cNvPr id="186" name="Google Shape;186;p13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87" name="Google Shape;187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10897" y="3779125"/>
            <a:ext cx="1272800" cy="13810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166150" y="2429911"/>
            <a:ext cx="1998175" cy="199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83275" y="4699011"/>
            <a:ext cx="1763921" cy="17639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mc:AlternateContent>
    <mc:Choice Requires="p14">
      <p:transition spd="med">
        <p14:prism dir="l"/>
      </p:transition>
    </mc:Choice>
    <mc:Fallback>
      <p:transition spd="med">
        <p:fade/>
      </p:transition>
    </mc:Fallback>
  </mc:AlternateContent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2500"/>
                                        <p:tgtEl>
                                          <p:spTgt spid="18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</a:pPr>
            <a:r>
              <a:rPr lang="ca-ES"/>
              <a:t>Gràcies per l’atenció!</a:t>
            </a:r>
            <a:endParaRPr/>
          </a:p>
        </p:txBody>
      </p:sp>
      <p:sp>
        <p:nvSpPr>
          <p:cNvPr id="196" name="Google Shape;196;p14"/>
          <p:cNvSpPr txBox="1"/>
          <p:nvPr>
            <p:ph idx="12" type="sldNum"/>
          </p:nvPr>
        </p:nvSpPr>
        <p:spPr>
          <a:xfrm>
            <a:off x="8540496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ca-ES"/>
              <a:t>‹#›</a:t>
            </a:fld>
            <a:endParaRPr/>
          </a:p>
        </p:txBody>
      </p:sp>
      <p:pic>
        <p:nvPicPr>
          <p:cNvPr id="197" name="Google Shape;197;p14" title="heart.gif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15575" y="2473309"/>
            <a:ext cx="3707350" cy="370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08925" y="548650"/>
            <a:ext cx="1179600" cy="1179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276725" y="308474"/>
            <a:ext cx="1270774" cy="1659951"/>
          </a:xfrm>
          <a:prstGeom prst="rect">
            <a:avLst/>
          </a:prstGeom>
          <a:noFill/>
          <a:ln>
            <a:noFill/>
          </a:ln>
        </p:spPr>
      </p:pic>
      <p:pic>
        <p:nvPicPr>
          <p:cNvPr id="200" name="Google Shape;200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712700" y="5117050"/>
            <a:ext cx="1718883" cy="1470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1" name="Google Shape;201;p14" title="h9w9d1i28baf1.gif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838900" y="2061575"/>
            <a:ext cx="3363875" cy="336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02" name="Google Shape;202;p14" title="deltarune-tenna.gif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540494" y="3120475"/>
            <a:ext cx="2743200" cy="2743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1000" fill="hold"/>
                                        <p:tgtEl>
                                          <p:spTgt spid="200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700"/>
                                        <p:tgtEl>
                                          <p:spTgt spid="2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1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fill="hold" nodeType="with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4700"/>
                                        <p:tgtEl>
                                          <p:spTgt spid="19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8" name="Google Shape;208;p15"/>
          <p:cNvPicPr preferRelativeResize="0"/>
          <p:nvPr/>
        </p:nvPicPr>
        <p:blipFill rotWithShape="1">
          <a:blip r:embed="rId3">
            <a:alphaModFix/>
          </a:blip>
          <a:srcRect b="-1" l="0" r="-1" t="1108"/>
          <a:stretch/>
        </p:blipFill>
        <p:spPr>
          <a:xfrm>
            <a:off x="20" y="10"/>
            <a:ext cx="866849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5"/>
          <p:cNvSpPr/>
          <p:nvPr/>
        </p:nvSpPr>
        <p:spPr>
          <a:xfrm flipH="1">
            <a:off x="3711652" y="0"/>
            <a:ext cx="8480347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8039"/>
                </a:srgbClr>
              </a:gs>
              <a:gs pos="35000">
                <a:srgbClr val="FFFFFF">
                  <a:alpha val="76862"/>
                </a:srgbClr>
              </a:gs>
              <a:gs pos="4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15"/>
          <p:cNvSpPr txBox="1"/>
          <p:nvPr>
            <p:ph type="ctrTitle"/>
          </p:nvPr>
        </p:nvSpPr>
        <p:spPr>
          <a:xfrm>
            <a:off x="7848600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ca-ES" sz="4800"/>
              <a:t>Enginyeria del Software</a:t>
            </a:r>
            <a:endParaRPr/>
          </a:p>
        </p:txBody>
      </p:sp>
      <p:sp>
        <p:nvSpPr>
          <p:cNvPr id="211" name="Google Shape;211;p15"/>
          <p:cNvSpPr/>
          <p:nvPr/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5"/>
          <p:cNvSpPr/>
          <p:nvPr/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rgbClr val="DABDBD"/>
          </a:solidFill>
          <a:ln cap="flat" cmpd="sng" w="9525">
            <a:solidFill>
              <a:srgbClr val="DABDBD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5"/>
          <p:cNvSpPr txBox="1"/>
          <p:nvPr/>
        </p:nvSpPr>
        <p:spPr>
          <a:xfrm>
            <a:off x="7848600" y="4872922"/>
            <a:ext cx="4023360" cy="13593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Pràctiques: Grup 431-02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0" i="0" lang="ca-ES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Sprint 0</a:t>
            </a:r>
            <a:r>
              <a:rPr lang="ca-ES">
                <a:solidFill>
                  <a:schemeClr val="dk1"/>
                </a:solidFill>
              </a:rPr>
              <a:t>2: diagrames UML i casos d’ús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>
    <mc:Choice Requires="p14">
      <p:transition spd="slow" p14:dur="5000">
        <p14:prism dir="l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nalogousFromRegularSeedRightStep">
      <a:dk1>
        <a:srgbClr val="000000"/>
      </a:dk1>
      <a:lt1>
        <a:srgbClr val="FFFFFF"/>
      </a:lt1>
      <a:dk2>
        <a:srgbClr val="412426"/>
      </a:dk2>
      <a:lt2>
        <a:srgbClr val="E2E8E8"/>
      </a:lt2>
      <a:accent1>
        <a:srgbClr val="C34D54"/>
      </a:accent1>
      <a:accent2>
        <a:srgbClr val="B1643B"/>
      </a:accent2>
      <a:accent3>
        <a:srgbClr val="BBA149"/>
      </a:accent3>
      <a:accent4>
        <a:srgbClr val="98AD39"/>
      </a:accent4>
      <a:accent5>
        <a:srgbClr val="72B346"/>
      </a:accent5>
      <a:accent6>
        <a:srgbClr val="3BB13D"/>
      </a:accent6>
      <a:hlink>
        <a:srgbClr val="30928B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