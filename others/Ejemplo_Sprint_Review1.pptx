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2"/>
  </p:notesMasterIdLst>
  <p:sldIdLst>
    <p:sldId id="412" r:id="rId5"/>
    <p:sldId id="400" r:id="rId6"/>
    <p:sldId id="408" r:id="rId7"/>
    <p:sldId id="409" r:id="rId8"/>
    <p:sldId id="410" r:id="rId9"/>
    <p:sldId id="411" r:id="rId10"/>
    <p:sldId id="399" r:id="rId1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9D9D9"/>
    <a:srgbClr val="FEF8BE"/>
    <a:srgbClr val="B8CCE4"/>
    <a:srgbClr val="7693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58" d="100"/>
          <a:sy n="158" d="100"/>
        </p:scale>
        <p:origin x="348"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ECDAD-75E1-4BC4-AB86-9BA5DFF857B3}" type="datetimeFigureOut">
              <a:rPr lang="en-GB" smtClean="0"/>
              <a:t>11/03/2025</a:t>
            </a:fld>
            <a:endParaRPr lang="en-GB"/>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BAA5E4-F832-4E78-BDC0-6CAA09567E07}" type="slidenum">
              <a:rPr lang="en-GB" smtClean="0"/>
              <a:t>‹Nº›</a:t>
            </a:fld>
            <a:endParaRPr lang="en-GB"/>
          </a:p>
        </p:txBody>
      </p:sp>
    </p:spTree>
    <p:extLst>
      <p:ext uri="{BB962C8B-B14F-4D97-AF65-F5344CB8AC3E}">
        <p14:creationId xmlns:p14="http://schemas.microsoft.com/office/powerpoint/2010/main" val="331548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31DCF8F9-FE1E-467E-9B82-0FEB758F2FA6}" type="datetime1">
              <a:rPr lang="en-US" smtClean="0"/>
              <a:t>3/11/2025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0959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6219CF75-0ECC-4E76-B636-3ABF46261502}" type="datetime1">
              <a:rPr lang="en-US" smtClean="0"/>
              <a:t>3/11/2025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725978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8D14E8BD-E6E8-42B0-9E1C-58D2F9C64A0C}" type="datetime1">
              <a:rPr lang="en-US" smtClean="0"/>
              <a:t>3/11/2025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01333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D7AFBA47-0BC8-4C75-9B10-88B9F496CCB1}" type="datetime1">
              <a:rPr lang="en-US" smtClean="0"/>
              <a:t>3/11/2025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999323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84512E72-AC33-43BA-BEE9-4FD4948C58D8}" type="datetime1">
              <a:rPr lang="en-US" smtClean="0"/>
              <a:t>3/11/2025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86181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CB376718-59A8-49B1-AEC5-3662572A144D}" type="datetime1">
              <a:rPr lang="en-US" smtClean="0"/>
              <a:t>3/11/2025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32094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284EC767-5C82-4733-81D6-0B6B22CAF0EE}" type="datetime1">
              <a:rPr lang="en-US" smtClean="0"/>
              <a:t>3/11/2025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576545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E4D41E06-6C86-4754-846D-56519DFF1F50}" type="datetime1">
              <a:rPr lang="en-US" smtClean="0"/>
              <a:t>3/11/2025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190660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A39B2-B176-40DF-B22F-280C511548AF}" type="datetime1">
              <a:rPr lang="en-US" smtClean="0"/>
              <a:t>3/11/2025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13420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5CAAE393-D011-4B55-A9B6-0BBC79EF96B0}" type="datetime1">
              <a:rPr lang="en-US" smtClean="0"/>
              <a:t>3/11/2025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482955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8ACD0C2F-F497-4247-8BB2-5746400D850B}" type="datetime1">
              <a:rPr lang="en-US" smtClean="0"/>
              <a:t>3/11/2025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4027891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BAA1BC-C245-4537-A704-02F8919D151B}" type="datetime1">
              <a:rPr lang="en-US" smtClean="0"/>
              <a:t>3/11/2025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326558025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45CF02-92BA-5A94-2DEC-47F61A7CF4A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4481272-C222-8968-044D-3BAF0970A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02A8D1-3358-F5F1-4AF0-5F9969CD7360}"/>
              </a:ext>
            </a:extLst>
          </p:cNvPr>
          <p:cNvPicPr>
            <a:picLocks noChangeAspect="1"/>
          </p:cNvPicPr>
          <p:nvPr/>
        </p:nvPicPr>
        <p:blipFill rotWithShape="1">
          <a:blip r:embed="rId2"/>
          <a:srcRect t="1108" r="-1" b="-1"/>
          <a:stretch/>
        </p:blipFill>
        <p:spPr>
          <a:xfrm>
            <a:off x="20" y="10"/>
            <a:ext cx="8668492" cy="6857990"/>
          </a:xfrm>
          <a:prstGeom prst="rect">
            <a:avLst/>
          </a:prstGeom>
        </p:spPr>
      </p:pic>
      <p:sp>
        <p:nvSpPr>
          <p:cNvPr id="87" name="Rectangle 10">
            <a:extLst>
              <a:ext uri="{FF2B5EF4-FFF2-40B4-BE49-F238E27FC236}">
                <a16:creationId xmlns:a16="http://schemas.microsoft.com/office/drawing/2014/main" id="{3CA4E186-A056-DACA-6812-E5F007704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0318A6B-6752-F618-4EF4-1D267178CEFA}"/>
              </a:ext>
            </a:extLst>
          </p:cNvPr>
          <p:cNvSpPr>
            <a:spLocks noGrp="1"/>
          </p:cNvSpPr>
          <p:nvPr>
            <p:ph type="ctrTitle"/>
          </p:nvPr>
        </p:nvSpPr>
        <p:spPr>
          <a:xfrm>
            <a:off x="7848600" y="1122363"/>
            <a:ext cx="4023360" cy="3204134"/>
          </a:xfrm>
        </p:spPr>
        <p:txBody>
          <a:bodyPr anchor="b">
            <a:normAutofit/>
          </a:bodyPr>
          <a:lstStyle/>
          <a:p>
            <a:r>
              <a:rPr lang="ca-ES" sz="4800"/>
              <a:t>Enginyeria del Software</a:t>
            </a:r>
          </a:p>
        </p:txBody>
      </p:sp>
      <p:sp>
        <p:nvSpPr>
          <p:cNvPr id="88" name="Rectangle 12">
            <a:extLst>
              <a:ext uri="{FF2B5EF4-FFF2-40B4-BE49-F238E27FC236}">
                <a16:creationId xmlns:a16="http://schemas.microsoft.com/office/drawing/2014/main" id="{EE755042-3AA6-3825-AEC6-571898FD74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FD429D88-9361-BCC7-DCE3-D5D1408F4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Subtítulo 2">
            <a:extLst>
              <a:ext uri="{FF2B5EF4-FFF2-40B4-BE49-F238E27FC236}">
                <a16:creationId xmlns:a16="http://schemas.microsoft.com/office/drawing/2014/main" id="{8F60D0DC-CA51-7547-B234-C04A874F0855}"/>
              </a:ext>
            </a:extLst>
          </p:cNvPr>
          <p:cNvSpPr txBox="1">
            <a:spLocks/>
          </p:cNvSpPr>
          <p:nvPr/>
        </p:nvSpPr>
        <p:spPr>
          <a:xfrm>
            <a:off x="7848600" y="4872922"/>
            <a:ext cx="4023360" cy="135939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ca-ES" sz="1400" dirty="0"/>
              <a:t>Pràctiques: Grup XXX-YY</a:t>
            </a:r>
          </a:p>
          <a:p>
            <a:pPr>
              <a:lnSpc>
                <a:spcPct val="100000"/>
              </a:lnSpc>
            </a:pPr>
            <a:endParaRPr lang="ca-ES" sz="1400" dirty="0"/>
          </a:p>
          <a:p>
            <a:pPr>
              <a:lnSpc>
                <a:spcPct val="100000"/>
              </a:lnSpc>
            </a:pPr>
            <a:r>
              <a:rPr lang="ca-ES" sz="1400" dirty="0" err="1"/>
              <a:t>Sprint</a:t>
            </a:r>
            <a:r>
              <a:rPr lang="ca-ES" sz="1400" dirty="0"/>
              <a:t> 01: Requisits Funcionals i No Funcionals</a:t>
            </a:r>
          </a:p>
        </p:txBody>
      </p:sp>
    </p:spTree>
    <p:extLst>
      <p:ext uri="{BB962C8B-B14F-4D97-AF65-F5344CB8AC3E}">
        <p14:creationId xmlns:p14="http://schemas.microsoft.com/office/powerpoint/2010/main" val="751733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F9086-B6B4-D19E-C791-6006CEAD6999}"/>
              </a:ext>
            </a:extLst>
          </p:cNvPr>
          <p:cNvSpPr>
            <a:spLocks noGrp="1"/>
          </p:cNvSpPr>
          <p:nvPr>
            <p:ph type="title"/>
          </p:nvPr>
        </p:nvSpPr>
        <p:spPr/>
        <p:txBody>
          <a:bodyPr/>
          <a:lstStyle/>
          <a:p>
            <a:r>
              <a:rPr lang="ca-ES" dirty="0"/>
              <a:t>Composició de l’equip</a:t>
            </a:r>
            <a:r>
              <a:rPr lang="en-GB" dirty="0"/>
              <a:t> </a:t>
            </a:r>
          </a:p>
        </p:txBody>
      </p:sp>
      <p:sp>
        <p:nvSpPr>
          <p:cNvPr id="4" name="Marcador de número de diapositiva 3">
            <a:extLst>
              <a:ext uri="{FF2B5EF4-FFF2-40B4-BE49-F238E27FC236}">
                <a16:creationId xmlns:a16="http://schemas.microsoft.com/office/drawing/2014/main" id="{0EDBCED9-7F51-70EF-594E-F7D7A979ACBF}"/>
              </a:ext>
            </a:extLst>
          </p:cNvPr>
          <p:cNvSpPr>
            <a:spLocks noGrp="1"/>
          </p:cNvSpPr>
          <p:nvPr>
            <p:ph type="sldNum" sz="quarter" idx="12"/>
          </p:nvPr>
        </p:nvSpPr>
        <p:spPr/>
        <p:txBody>
          <a:bodyPr/>
          <a:lstStyle/>
          <a:p>
            <a:fld id="{B2DC25EE-239B-4C5F-AAD1-255A7D5F1EE2}" type="slidenum">
              <a:rPr lang="en-US" smtClean="0"/>
              <a:t>2</a:t>
            </a:fld>
            <a:endParaRPr lang="en-US" dirty="0"/>
          </a:p>
        </p:txBody>
      </p:sp>
      <p:pic>
        <p:nvPicPr>
          <p:cNvPr id="1026" name="Picture 2" descr="Profile Pictures, The Selfie Precursor Thebenclark, 47% OFF">
            <a:extLst>
              <a:ext uri="{FF2B5EF4-FFF2-40B4-BE49-F238E27FC236}">
                <a16:creationId xmlns:a16="http://schemas.microsoft.com/office/drawing/2014/main" id="{E44A2714-7224-8333-A43B-ECBC3C175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305" y="2312505"/>
            <a:ext cx="1209260" cy="120926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EF9A3A06-2104-6EDD-EE3F-A32528BEC881}"/>
              </a:ext>
            </a:extLst>
          </p:cNvPr>
          <p:cNvSpPr txBox="1"/>
          <p:nvPr/>
        </p:nvSpPr>
        <p:spPr>
          <a:xfrm>
            <a:off x="1155324" y="3638956"/>
            <a:ext cx="2319130" cy="646331"/>
          </a:xfrm>
          <a:prstGeom prst="rect">
            <a:avLst/>
          </a:prstGeom>
          <a:noFill/>
        </p:spPr>
        <p:txBody>
          <a:bodyPr wrap="square" rtlCol="0">
            <a:spAutoFit/>
          </a:bodyPr>
          <a:lstStyle/>
          <a:p>
            <a:r>
              <a:rPr lang="es-ES" dirty="0"/>
              <a:t>Foto membre_1</a:t>
            </a:r>
          </a:p>
          <a:p>
            <a:r>
              <a:rPr lang="es-ES" dirty="0" err="1"/>
              <a:t>Nom</a:t>
            </a:r>
            <a:r>
              <a:rPr lang="es-ES" dirty="0"/>
              <a:t> membre_1</a:t>
            </a:r>
            <a:endParaRPr lang="ca-ES" dirty="0"/>
          </a:p>
        </p:txBody>
      </p:sp>
      <p:pic>
        <p:nvPicPr>
          <p:cNvPr id="8" name="Picture 2" descr="Profile Pictures, The Selfie Precursor Thebenclark, 47% OFF">
            <a:extLst>
              <a:ext uri="{FF2B5EF4-FFF2-40B4-BE49-F238E27FC236}">
                <a16:creationId xmlns:a16="http://schemas.microsoft.com/office/drawing/2014/main" id="{76D0DF31-D861-FFEE-2974-6C02DD6937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851" y="2312505"/>
            <a:ext cx="1209260" cy="1209260"/>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2701D67B-2047-7EEE-CB49-B2ED590A3D18}"/>
              </a:ext>
            </a:extLst>
          </p:cNvPr>
          <p:cNvSpPr txBox="1"/>
          <p:nvPr/>
        </p:nvSpPr>
        <p:spPr>
          <a:xfrm>
            <a:off x="3776870" y="3638956"/>
            <a:ext cx="2319130" cy="646331"/>
          </a:xfrm>
          <a:prstGeom prst="rect">
            <a:avLst/>
          </a:prstGeom>
          <a:noFill/>
        </p:spPr>
        <p:txBody>
          <a:bodyPr wrap="square" rtlCol="0">
            <a:spAutoFit/>
          </a:bodyPr>
          <a:lstStyle/>
          <a:p>
            <a:r>
              <a:rPr lang="es-ES" dirty="0"/>
              <a:t>Foto membre_2</a:t>
            </a:r>
          </a:p>
          <a:p>
            <a:r>
              <a:rPr lang="es-ES" dirty="0" err="1"/>
              <a:t>Nom</a:t>
            </a:r>
            <a:r>
              <a:rPr lang="es-ES" dirty="0"/>
              <a:t> membre_2</a:t>
            </a:r>
            <a:endParaRPr lang="ca-ES" dirty="0"/>
          </a:p>
        </p:txBody>
      </p:sp>
      <p:pic>
        <p:nvPicPr>
          <p:cNvPr id="10" name="Picture 2" descr="Profile Pictures, The Selfie Precursor Thebenclark, 47% OFF">
            <a:extLst>
              <a:ext uri="{FF2B5EF4-FFF2-40B4-BE49-F238E27FC236}">
                <a16:creationId xmlns:a16="http://schemas.microsoft.com/office/drawing/2014/main" id="{C58F73A0-EF49-A7B1-C627-75778E026E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305" y="4472610"/>
            <a:ext cx="1209260" cy="1209260"/>
          </a:xfrm>
          <a:prstGeom prst="rect">
            <a:avLst/>
          </a:prstGeom>
          <a:noFill/>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AF9E5503-CA01-C76E-286A-F65FDF48A279}"/>
              </a:ext>
            </a:extLst>
          </p:cNvPr>
          <p:cNvSpPr txBox="1"/>
          <p:nvPr/>
        </p:nvSpPr>
        <p:spPr>
          <a:xfrm>
            <a:off x="1155324" y="5799061"/>
            <a:ext cx="2319130" cy="646331"/>
          </a:xfrm>
          <a:prstGeom prst="rect">
            <a:avLst/>
          </a:prstGeom>
          <a:noFill/>
        </p:spPr>
        <p:txBody>
          <a:bodyPr wrap="square" rtlCol="0">
            <a:spAutoFit/>
          </a:bodyPr>
          <a:lstStyle/>
          <a:p>
            <a:r>
              <a:rPr lang="es-ES" dirty="0"/>
              <a:t>Foto membre_3</a:t>
            </a:r>
          </a:p>
          <a:p>
            <a:r>
              <a:rPr lang="es-ES" dirty="0" err="1"/>
              <a:t>Nom</a:t>
            </a:r>
            <a:r>
              <a:rPr lang="es-ES" dirty="0"/>
              <a:t> membre_3</a:t>
            </a:r>
            <a:endParaRPr lang="ca-ES" dirty="0"/>
          </a:p>
        </p:txBody>
      </p:sp>
      <p:pic>
        <p:nvPicPr>
          <p:cNvPr id="12" name="Picture 2" descr="Profile Pictures, The Selfie Precursor Thebenclark, 47% OFF">
            <a:extLst>
              <a:ext uri="{FF2B5EF4-FFF2-40B4-BE49-F238E27FC236}">
                <a16:creationId xmlns:a16="http://schemas.microsoft.com/office/drawing/2014/main" id="{B5B950BB-3356-08FA-D3B8-D5AB267A1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851" y="4472610"/>
            <a:ext cx="1209260" cy="1209260"/>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EFC6393E-84E8-F829-72B0-A2837607CCD5}"/>
              </a:ext>
            </a:extLst>
          </p:cNvPr>
          <p:cNvSpPr txBox="1"/>
          <p:nvPr/>
        </p:nvSpPr>
        <p:spPr>
          <a:xfrm>
            <a:off x="3776870" y="5799061"/>
            <a:ext cx="2319130" cy="646331"/>
          </a:xfrm>
          <a:prstGeom prst="rect">
            <a:avLst/>
          </a:prstGeom>
          <a:noFill/>
        </p:spPr>
        <p:txBody>
          <a:bodyPr wrap="square" rtlCol="0">
            <a:spAutoFit/>
          </a:bodyPr>
          <a:lstStyle/>
          <a:p>
            <a:r>
              <a:rPr lang="es-ES" dirty="0"/>
              <a:t>Foto membre_4</a:t>
            </a:r>
          </a:p>
          <a:p>
            <a:r>
              <a:rPr lang="es-ES" dirty="0" err="1"/>
              <a:t>Nom</a:t>
            </a:r>
            <a:r>
              <a:rPr lang="es-ES" dirty="0"/>
              <a:t> membre_4</a:t>
            </a:r>
            <a:endParaRPr lang="ca-ES" dirty="0"/>
          </a:p>
        </p:txBody>
      </p:sp>
      <p:sp>
        <p:nvSpPr>
          <p:cNvPr id="14" name="CuadroTexto 13">
            <a:extLst>
              <a:ext uri="{FF2B5EF4-FFF2-40B4-BE49-F238E27FC236}">
                <a16:creationId xmlns:a16="http://schemas.microsoft.com/office/drawing/2014/main" id="{75D8E7C1-F3A1-9FFE-E007-5F434203772E}"/>
              </a:ext>
            </a:extLst>
          </p:cNvPr>
          <p:cNvSpPr txBox="1"/>
          <p:nvPr/>
        </p:nvSpPr>
        <p:spPr>
          <a:xfrm>
            <a:off x="6612835" y="3167270"/>
            <a:ext cx="4300330" cy="923330"/>
          </a:xfrm>
          <a:prstGeom prst="rect">
            <a:avLst/>
          </a:prstGeom>
          <a:noFill/>
        </p:spPr>
        <p:txBody>
          <a:bodyPr wrap="square" rtlCol="0">
            <a:spAutoFit/>
          </a:bodyPr>
          <a:lstStyle/>
          <a:p>
            <a:pPr algn="just"/>
            <a:r>
              <a:rPr lang="ca-ES" dirty="0"/>
              <a:t>En aquesta transparència heu d’indicar quin es el </a:t>
            </a:r>
            <a:r>
              <a:rPr lang="ca-ES" dirty="0" err="1"/>
              <a:t>Scrum</a:t>
            </a:r>
            <a:r>
              <a:rPr lang="ca-ES" dirty="0"/>
              <a:t> </a:t>
            </a:r>
            <a:r>
              <a:rPr lang="ca-ES" dirty="0" err="1"/>
              <a:t>Master</a:t>
            </a:r>
            <a:r>
              <a:rPr lang="ca-ES" dirty="0"/>
              <a:t> d’aquest </a:t>
            </a:r>
            <a:r>
              <a:rPr lang="ca-ES" dirty="0" err="1"/>
              <a:t>sprint</a:t>
            </a:r>
            <a:endParaRPr lang="ca-ES" dirty="0"/>
          </a:p>
        </p:txBody>
      </p:sp>
    </p:spTree>
    <p:extLst>
      <p:ext uri="{BB962C8B-B14F-4D97-AF65-F5344CB8AC3E}">
        <p14:creationId xmlns:p14="http://schemas.microsoft.com/office/powerpoint/2010/main" val="1439967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FB19B-BC83-28E3-C34F-E477B71C3C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6D4BA1-5AB7-B8D9-63F4-F71B31D5F629}"/>
              </a:ext>
            </a:extLst>
          </p:cNvPr>
          <p:cNvSpPr>
            <a:spLocks noGrp="1"/>
          </p:cNvSpPr>
          <p:nvPr>
            <p:ph type="title"/>
          </p:nvPr>
        </p:nvSpPr>
        <p:spPr/>
        <p:txBody>
          <a:bodyPr/>
          <a:lstStyle/>
          <a:p>
            <a:r>
              <a:rPr lang="es-ES" dirty="0"/>
              <a:t>Tasques fetes al sprint</a:t>
            </a:r>
            <a:endParaRPr lang="en-GB" dirty="0"/>
          </a:p>
        </p:txBody>
      </p:sp>
      <p:sp>
        <p:nvSpPr>
          <p:cNvPr id="4" name="Marcador de número de diapositiva 3">
            <a:extLst>
              <a:ext uri="{FF2B5EF4-FFF2-40B4-BE49-F238E27FC236}">
                <a16:creationId xmlns:a16="http://schemas.microsoft.com/office/drawing/2014/main" id="{329DCC4B-20F9-8EAA-9C5D-D85FD1DD20C9}"/>
              </a:ext>
            </a:extLst>
          </p:cNvPr>
          <p:cNvSpPr>
            <a:spLocks noGrp="1"/>
          </p:cNvSpPr>
          <p:nvPr>
            <p:ph type="sldNum" sz="quarter" idx="12"/>
          </p:nvPr>
        </p:nvSpPr>
        <p:spPr/>
        <p:txBody>
          <a:bodyPr/>
          <a:lstStyle/>
          <a:p>
            <a:fld id="{B2DC25EE-239B-4C5F-AAD1-255A7D5F1EE2}" type="slidenum">
              <a:rPr lang="en-US" smtClean="0"/>
              <a:t>3</a:t>
            </a:fld>
            <a:endParaRPr lang="en-US" dirty="0"/>
          </a:p>
        </p:txBody>
      </p:sp>
      <p:sp>
        <p:nvSpPr>
          <p:cNvPr id="14" name="CuadroTexto 13">
            <a:extLst>
              <a:ext uri="{FF2B5EF4-FFF2-40B4-BE49-F238E27FC236}">
                <a16:creationId xmlns:a16="http://schemas.microsoft.com/office/drawing/2014/main" id="{0C9F3BC3-64C6-DCA9-A993-43956FF851B7}"/>
              </a:ext>
            </a:extLst>
          </p:cNvPr>
          <p:cNvSpPr txBox="1"/>
          <p:nvPr/>
        </p:nvSpPr>
        <p:spPr>
          <a:xfrm>
            <a:off x="428603" y="2198728"/>
            <a:ext cx="10020823" cy="1477328"/>
          </a:xfrm>
          <a:prstGeom prst="rect">
            <a:avLst/>
          </a:prstGeom>
          <a:noFill/>
        </p:spPr>
        <p:txBody>
          <a:bodyPr wrap="square" rtlCol="0">
            <a:spAutoFit/>
          </a:bodyPr>
          <a:lstStyle/>
          <a:p>
            <a:pPr algn="just"/>
            <a:r>
              <a:rPr lang="ca-ES" dirty="0"/>
              <a:t>En aquesta transparència volem un llistat general de les tasques que ha fet cadascú al </a:t>
            </a:r>
            <a:r>
              <a:rPr lang="ca-ES" dirty="0" err="1"/>
              <a:t>sprint</a:t>
            </a:r>
            <a:endParaRPr lang="ca-ES" dirty="0"/>
          </a:p>
          <a:p>
            <a:pPr algn="just"/>
            <a:endParaRPr lang="ca-ES" dirty="0"/>
          </a:p>
          <a:p>
            <a:pPr algn="just"/>
            <a:r>
              <a:rPr lang="ca-ES" dirty="0"/>
              <a:t>Per exemple:</a:t>
            </a:r>
          </a:p>
          <a:p>
            <a:pPr algn="just"/>
            <a:endParaRPr lang="ca-ES" dirty="0"/>
          </a:p>
          <a:p>
            <a:pPr algn="just"/>
            <a:r>
              <a:rPr lang="ca-ES" dirty="0"/>
              <a:t>Tasca 1: Requisits Funcionals del perfil usuari Client (encarregat: Alumne1)</a:t>
            </a:r>
          </a:p>
        </p:txBody>
      </p:sp>
    </p:spTree>
    <p:extLst>
      <p:ext uri="{BB962C8B-B14F-4D97-AF65-F5344CB8AC3E}">
        <p14:creationId xmlns:p14="http://schemas.microsoft.com/office/powerpoint/2010/main" val="3516385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829A-DA28-0229-A05E-FCE0F2EF15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BF99BE-BBF6-B2B3-02F4-217E7C78069C}"/>
              </a:ext>
            </a:extLst>
          </p:cNvPr>
          <p:cNvSpPr>
            <a:spLocks noGrp="1"/>
          </p:cNvSpPr>
          <p:nvPr>
            <p:ph type="title"/>
          </p:nvPr>
        </p:nvSpPr>
        <p:spPr/>
        <p:txBody>
          <a:bodyPr>
            <a:normAutofit fontScale="90000"/>
          </a:bodyPr>
          <a:lstStyle/>
          <a:p>
            <a:r>
              <a:rPr lang="ca-ES" dirty="0"/>
              <a:t>Perfils d’usuari a l’aplicació QUEMENGES</a:t>
            </a:r>
          </a:p>
        </p:txBody>
      </p:sp>
      <p:sp>
        <p:nvSpPr>
          <p:cNvPr id="4" name="Marcador de número de diapositiva 3">
            <a:extLst>
              <a:ext uri="{FF2B5EF4-FFF2-40B4-BE49-F238E27FC236}">
                <a16:creationId xmlns:a16="http://schemas.microsoft.com/office/drawing/2014/main" id="{ED58B65D-2614-915C-82AC-99B679A025F1}"/>
              </a:ext>
            </a:extLst>
          </p:cNvPr>
          <p:cNvSpPr>
            <a:spLocks noGrp="1"/>
          </p:cNvSpPr>
          <p:nvPr>
            <p:ph type="sldNum" sz="quarter" idx="12"/>
          </p:nvPr>
        </p:nvSpPr>
        <p:spPr/>
        <p:txBody>
          <a:bodyPr/>
          <a:lstStyle/>
          <a:p>
            <a:fld id="{B2DC25EE-239B-4C5F-AAD1-255A7D5F1EE2}" type="slidenum">
              <a:rPr lang="en-US" smtClean="0"/>
              <a:t>4</a:t>
            </a:fld>
            <a:endParaRPr lang="en-US" dirty="0"/>
          </a:p>
        </p:txBody>
      </p:sp>
      <p:sp>
        <p:nvSpPr>
          <p:cNvPr id="14" name="CuadroTexto 13">
            <a:extLst>
              <a:ext uri="{FF2B5EF4-FFF2-40B4-BE49-F238E27FC236}">
                <a16:creationId xmlns:a16="http://schemas.microsoft.com/office/drawing/2014/main" id="{31C72129-175A-22CE-696F-928ABF46C450}"/>
              </a:ext>
            </a:extLst>
          </p:cNvPr>
          <p:cNvSpPr txBox="1"/>
          <p:nvPr/>
        </p:nvSpPr>
        <p:spPr>
          <a:xfrm>
            <a:off x="428603" y="2198728"/>
            <a:ext cx="10020823" cy="1477328"/>
          </a:xfrm>
          <a:prstGeom prst="rect">
            <a:avLst/>
          </a:prstGeom>
          <a:noFill/>
        </p:spPr>
        <p:txBody>
          <a:bodyPr wrap="square" rtlCol="0">
            <a:spAutoFit/>
          </a:bodyPr>
          <a:lstStyle/>
          <a:p>
            <a:pPr algn="just"/>
            <a:r>
              <a:rPr lang="ca-ES" dirty="0"/>
              <a:t>En aquesta transparència volem un llistat de tots els perfils que heu identificat al enunciat</a:t>
            </a:r>
          </a:p>
          <a:p>
            <a:pPr algn="just"/>
            <a:endParaRPr lang="ca-ES" dirty="0"/>
          </a:p>
          <a:p>
            <a:pPr algn="just"/>
            <a:r>
              <a:rPr lang="ca-ES" dirty="0"/>
              <a:t>Per exemple:</a:t>
            </a:r>
          </a:p>
          <a:p>
            <a:pPr algn="just"/>
            <a:endParaRPr lang="ca-ES" dirty="0"/>
          </a:p>
          <a:p>
            <a:pPr algn="just"/>
            <a:r>
              <a:rPr lang="ca-ES" dirty="0"/>
              <a:t>Perfil 1: Client</a:t>
            </a:r>
          </a:p>
        </p:txBody>
      </p:sp>
    </p:spTree>
    <p:extLst>
      <p:ext uri="{BB962C8B-B14F-4D97-AF65-F5344CB8AC3E}">
        <p14:creationId xmlns:p14="http://schemas.microsoft.com/office/powerpoint/2010/main" val="194366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A7B62-DBD7-BFDA-7B65-5E67A8D300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4CAEFC-9C4C-51FD-FCC5-CC819E648E2A}"/>
              </a:ext>
            </a:extLst>
          </p:cNvPr>
          <p:cNvSpPr>
            <a:spLocks noGrp="1"/>
          </p:cNvSpPr>
          <p:nvPr>
            <p:ph type="title"/>
          </p:nvPr>
        </p:nvSpPr>
        <p:spPr/>
        <p:txBody>
          <a:bodyPr/>
          <a:lstStyle/>
          <a:p>
            <a:r>
              <a:rPr lang="ca-ES" dirty="0"/>
              <a:t>Requisits</a:t>
            </a:r>
          </a:p>
        </p:txBody>
      </p:sp>
      <p:sp>
        <p:nvSpPr>
          <p:cNvPr id="4" name="Marcador de número de diapositiva 3">
            <a:extLst>
              <a:ext uri="{FF2B5EF4-FFF2-40B4-BE49-F238E27FC236}">
                <a16:creationId xmlns:a16="http://schemas.microsoft.com/office/drawing/2014/main" id="{51028594-75F6-86C2-9333-4845120C2DF0}"/>
              </a:ext>
            </a:extLst>
          </p:cNvPr>
          <p:cNvSpPr>
            <a:spLocks noGrp="1"/>
          </p:cNvSpPr>
          <p:nvPr>
            <p:ph type="sldNum" sz="quarter" idx="12"/>
          </p:nvPr>
        </p:nvSpPr>
        <p:spPr/>
        <p:txBody>
          <a:bodyPr/>
          <a:lstStyle/>
          <a:p>
            <a:fld id="{B2DC25EE-239B-4C5F-AAD1-255A7D5F1EE2}" type="slidenum">
              <a:rPr lang="en-US" smtClean="0"/>
              <a:t>5</a:t>
            </a:fld>
            <a:endParaRPr lang="en-US" dirty="0"/>
          </a:p>
        </p:txBody>
      </p:sp>
      <p:sp>
        <p:nvSpPr>
          <p:cNvPr id="14" name="CuadroTexto 13">
            <a:extLst>
              <a:ext uri="{FF2B5EF4-FFF2-40B4-BE49-F238E27FC236}">
                <a16:creationId xmlns:a16="http://schemas.microsoft.com/office/drawing/2014/main" id="{F933A7ED-18E9-D42B-F297-39B59B5C7F84}"/>
              </a:ext>
            </a:extLst>
          </p:cNvPr>
          <p:cNvSpPr txBox="1"/>
          <p:nvPr/>
        </p:nvSpPr>
        <p:spPr>
          <a:xfrm>
            <a:off x="428603" y="2198728"/>
            <a:ext cx="11266092" cy="3139321"/>
          </a:xfrm>
          <a:prstGeom prst="rect">
            <a:avLst/>
          </a:prstGeom>
          <a:noFill/>
        </p:spPr>
        <p:txBody>
          <a:bodyPr wrap="square" rtlCol="0">
            <a:spAutoFit/>
          </a:bodyPr>
          <a:lstStyle/>
          <a:p>
            <a:pPr algn="just"/>
            <a:r>
              <a:rPr lang="ca-ES" dirty="0"/>
              <a:t>En aquesta secció de la presentació (pot ser més d’una transparència) volem un llistat de tots els requisits funcionals per cadascú dels perfils (una transparència per perfil). Només volem el nom del requisit i, en el cas de que sigui un requisit no funcional, el seu nom i tipus. Els requisits no funcional poden estar associats a un RF o ser independents, generals per a tot el software.</a:t>
            </a:r>
          </a:p>
          <a:p>
            <a:pPr algn="just"/>
            <a:endParaRPr lang="ca-ES" dirty="0"/>
          </a:p>
          <a:p>
            <a:pPr algn="just"/>
            <a:r>
              <a:rPr lang="ca-ES" dirty="0"/>
              <a:t>Exemples FICTICIS:</a:t>
            </a:r>
          </a:p>
          <a:p>
            <a:pPr algn="just"/>
            <a:endParaRPr lang="ca-ES" dirty="0"/>
          </a:p>
          <a:p>
            <a:pPr algn="just"/>
            <a:r>
              <a:rPr lang="ca-ES" dirty="0"/>
              <a:t>RF 01: El client podrà introduir fer comandes a l’aplicació</a:t>
            </a:r>
          </a:p>
          <a:p>
            <a:pPr algn="just"/>
            <a:r>
              <a:rPr lang="ca-ES" dirty="0"/>
              <a:t>	RNF 01: El màxim nombre de comandes simultànies és de 100 (RNF de Rendiment Estàtic)</a:t>
            </a:r>
          </a:p>
          <a:p>
            <a:pPr algn="just"/>
            <a:endParaRPr lang="ca-ES" dirty="0"/>
          </a:p>
          <a:p>
            <a:pPr algn="just"/>
            <a:r>
              <a:rPr lang="ca-ES" dirty="0"/>
              <a:t>RNF 02: La aplicació tindrà una </a:t>
            </a:r>
            <a:r>
              <a:rPr lang="ca-ES" dirty="0" err="1"/>
              <a:t>interfaç</a:t>
            </a:r>
            <a:r>
              <a:rPr lang="ca-ES" dirty="0"/>
              <a:t> amigable (RNF de Objectiu de Disseny)</a:t>
            </a:r>
          </a:p>
        </p:txBody>
      </p:sp>
    </p:spTree>
    <p:extLst>
      <p:ext uri="{BB962C8B-B14F-4D97-AF65-F5344CB8AC3E}">
        <p14:creationId xmlns:p14="http://schemas.microsoft.com/office/powerpoint/2010/main" val="322074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8EA2-7393-3EEA-342C-2A0E49400E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94DF30-96E6-D413-77EB-9C52FFF97359}"/>
              </a:ext>
            </a:extLst>
          </p:cNvPr>
          <p:cNvSpPr>
            <a:spLocks noGrp="1"/>
          </p:cNvSpPr>
          <p:nvPr>
            <p:ph type="title"/>
          </p:nvPr>
        </p:nvSpPr>
        <p:spPr/>
        <p:txBody>
          <a:bodyPr/>
          <a:lstStyle/>
          <a:p>
            <a:r>
              <a:rPr lang="ca-ES" dirty="0" err="1"/>
              <a:t>Burn-down</a:t>
            </a:r>
            <a:r>
              <a:rPr lang="ca-ES" dirty="0"/>
              <a:t> </a:t>
            </a:r>
            <a:r>
              <a:rPr lang="ca-ES" dirty="0" err="1"/>
              <a:t>chart</a:t>
            </a:r>
            <a:endParaRPr lang="ca-ES" dirty="0"/>
          </a:p>
        </p:txBody>
      </p:sp>
      <p:sp>
        <p:nvSpPr>
          <p:cNvPr id="4" name="Marcador de número de diapositiva 3">
            <a:extLst>
              <a:ext uri="{FF2B5EF4-FFF2-40B4-BE49-F238E27FC236}">
                <a16:creationId xmlns:a16="http://schemas.microsoft.com/office/drawing/2014/main" id="{7324E472-EEEA-047A-652F-39B76DADE16B}"/>
              </a:ext>
            </a:extLst>
          </p:cNvPr>
          <p:cNvSpPr>
            <a:spLocks noGrp="1"/>
          </p:cNvSpPr>
          <p:nvPr>
            <p:ph type="sldNum" sz="quarter" idx="12"/>
          </p:nvPr>
        </p:nvSpPr>
        <p:spPr/>
        <p:txBody>
          <a:bodyPr/>
          <a:lstStyle/>
          <a:p>
            <a:fld id="{B2DC25EE-239B-4C5F-AAD1-255A7D5F1EE2}" type="slidenum">
              <a:rPr lang="en-US" smtClean="0"/>
              <a:t>6</a:t>
            </a:fld>
            <a:endParaRPr lang="en-US" dirty="0"/>
          </a:p>
        </p:txBody>
      </p:sp>
      <p:sp>
        <p:nvSpPr>
          <p:cNvPr id="14" name="CuadroTexto 13">
            <a:extLst>
              <a:ext uri="{FF2B5EF4-FFF2-40B4-BE49-F238E27FC236}">
                <a16:creationId xmlns:a16="http://schemas.microsoft.com/office/drawing/2014/main" id="{A0201EA9-8858-5DF7-3188-D5BF4D92DF40}"/>
              </a:ext>
            </a:extLst>
          </p:cNvPr>
          <p:cNvSpPr txBox="1"/>
          <p:nvPr/>
        </p:nvSpPr>
        <p:spPr>
          <a:xfrm>
            <a:off x="428603" y="2198728"/>
            <a:ext cx="11266092" cy="369332"/>
          </a:xfrm>
          <a:prstGeom prst="rect">
            <a:avLst/>
          </a:prstGeom>
          <a:noFill/>
        </p:spPr>
        <p:txBody>
          <a:bodyPr wrap="square" rtlCol="0">
            <a:spAutoFit/>
          </a:bodyPr>
          <a:lstStyle/>
          <a:p>
            <a:pPr algn="just"/>
            <a:r>
              <a:rPr lang="ca-ES" dirty="0"/>
              <a:t>En aquesta transparència volem el vostre </a:t>
            </a:r>
            <a:r>
              <a:rPr lang="ca-ES" dirty="0" err="1"/>
              <a:t>burn-down</a:t>
            </a:r>
            <a:r>
              <a:rPr lang="ca-ES" dirty="0"/>
              <a:t> Chart per aquest </a:t>
            </a:r>
            <a:r>
              <a:rPr lang="ca-ES" dirty="0" err="1"/>
              <a:t>sprint</a:t>
            </a:r>
            <a:endParaRPr lang="ca-ES" dirty="0"/>
          </a:p>
        </p:txBody>
      </p:sp>
      <p:pic>
        <p:nvPicPr>
          <p:cNvPr id="2052" name="Picture 4">
            <a:extLst>
              <a:ext uri="{FF2B5EF4-FFF2-40B4-BE49-F238E27FC236}">
                <a16:creationId xmlns:a16="http://schemas.microsoft.com/office/drawing/2014/main" id="{57540303-3215-05B0-67D1-9A5C80493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3091" y="2190820"/>
            <a:ext cx="5086753" cy="4165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59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66D8F7F-EDDF-0F27-C5DE-363EDF2D88B3}"/>
              </a:ext>
            </a:extLst>
          </p:cNvPr>
          <p:cNvPicPr>
            <a:picLocks noChangeAspect="1"/>
          </p:cNvPicPr>
          <p:nvPr/>
        </p:nvPicPr>
        <p:blipFill rotWithShape="1">
          <a:blip r:embed="rId2"/>
          <a:srcRect t="1108" r="-1" b="-1"/>
          <a:stretch/>
        </p:blipFill>
        <p:spPr>
          <a:xfrm>
            <a:off x="20" y="10"/>
            <a:ext cx="8668492" cy="6857990"/>
          </a:xfrm>
          <a:prstGeom prst="rect">
            <a:avLst/>
          </a:prstGeom>
        </p:spPr>
      </p:pic>
      <p:sp>
        <p:nvSpPr>
          <p:cNvPr id="87"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2F091E7-7144-0D59-2350-89184552602D}"/>
              </a:ext>
            </a:extLst>
          </p:cNvPr>
          <p:cNvSpPr>
            <a:spLocks noGrp="1"/>
          </p:cNvSpPr>
          <p:nvPr>
            <p:ph type="ctrTitle"/>
          </p:nvPr>
        </p:nvSpPr>
        <p:spPr>
          <a:xfrm>
            <a:off x="7848600" y="1122363"/>
            <a:ext cx="4023360" cy="3204134"/>
          </a:xfrm>
        </p:spPr>
        <p:txBody>
          <a:bodyPr anchor="b">
            <a:normAutofit/>
          </a:bodyPr>
          <a:lstStyle/>
          <a:p>
            <a:r>
              <a:rPr lang="ca-ES" sz="4800"/>
              <a:t>Enginyeria del Software</a:t>
            </a:r>
          </a:p>
        </p:txBody>
      </p:sp>
      <p:sp>
        <p:nvSpPr>
          <p:cNvPr id="88"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Subtítulo 2">
            <a:extLst>
              <a:ext uri="{FF2B5EF4-FFF2-40B4-BE49-F238E27FC236}">
                <a16:creationId xmlns:a16="http://schemas.microsoft.com/office/drawing/2014/main" id="{4B6A5C40-8DF0-BEC4-6D4B-21A930E89326}"/>
              </a:ext>
            </a:extLst>
          </p:cNvPr>
          <p:cNvSpPr txBox="1">
            <a:spLocks/>
          </p:cNvSpPr>
          <p:nvPr/>
        </p:nvSpPr>
        <p:spPr>
          <a:xfrm>
            <a:off x="7848600" y="4872922"/>
            <a:ext cx="4023360" cy="1359395"/>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ca-ES" sz="1400" dirty="0"/>
              <a:t>Pràctiques: Grup XXX-YY</a:t>
            </a:r>
          </a:p>
          <a:p>
            <a:pPr>
              <a:lnSpc>
                <a:spcPct val="100000"/>
              </a:lnSpc>
            </a:pPr>
            <a:endParaRPr lang="ca-ES" sz="1400" dirty="0"/>
          </a:p>
          <a:p>
            <a:pPr>
              <a:lnSpc>
                <a:spcPct val="100000"/>
              </a:lnSpc>
            </a:pPr>
            <a:r>
              <a:rPr lang="ca-ES" sz="1400" dirty="0" err="1"/>
              <a:t>Sprint</a:t>
            </a:r>
            <a:r>
              <a:rPr lang="ca-ES" sz="1400" dirty="0"/>
              <a:t> 01: Requisits Funcionals i No Funcionals</a:t>
            </a:r>
          </a:p>
        </p:txBody>
      </p:sp>
    </p:spTree>
    <p:extLst>
      <p:ext uri="{BB962C8B-B14F-4D97-AF65-F5344CB8AC3E}">
        <p14:creationId xmlns:p14="http://schemas.microsoft.com/office/powerpoint/2010/main" val="792603657"/>
      </p:ext>
    </p:extLst>
  </p:cSld>
  <p:clrMapOvr>
    <a:masterClrMapping/>
  </p:clrMapOvr>
</p:sld>
</file>

<file path=ppt/theme/theme1.xml><?xml version="1.0" encoding="utf-8"?>
<a:theme xmlns:a="http://schemas.openxmlformats.org/drawingml/2006/main" name="AccentBoxVTI">
  <a:themeElements>
    <a:clrScheme name="AnalogousFromRegularSeedRightStep">
      <a:dk1>
        <a:srgbClr val="000000"/>
      </a:dk1>
      <a:lt1>
        <a:srgbClr val="FFFFFF"/>
      </a:lt1>
      <a:dk2>
        <a:srgbClr val="412426"/>
      </a:dk2>
      <a:lt2>
        <a:srgbClr val="E2E8E8"/>
      </a:lt2>
      <a:accent1>
        <a:srgbClr val="C34D54"/>
      </a:accent1>
      <a:accent2>
        <a:srgbClr val="B1643B"/>
      </a:accent2>
      <a:accent3>
        <a:srgbClr val="BBA149"/>
      </a:accent3>
      <a:accent4>
        <a:srgbClr val="98AD39"/>
      </a:accent4>
      <a:accent5>
        <a:srgbClr val="72B346"/>
      </a:accent5>
      <a:accent6>
        <a:srgbClr val="3BB13D"/>
      </a:accent6>
      <a:hlink>
        <a:srgbClr val="30928B"/>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b814fa0-4f1b-4d56-8a36-064af1e36e66">
      <UserInfo>
        <DisplayName/>
        <AccountId xsi:nil="true"/>
        <AccountType/>
      </UserInfo>
    </SharedWithUsers>
    <_activity xmlns="b1fa7ccf-aa4f-4f27-84db-07667d020ac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3BD3DC6F0E81D4FA56575A4B7B24AF5" ma:contentTypeVersion="14" ma:contentTypeDescription="Crear nuevo documento." ma:contentTypeScope="" ma:versionID="ded3d347f3a98b31a82ee0cc093f824b">
  <xsd:schema xmlns:xsd="http://www.w3.org/2001/XMLSchema" xmlns:xs="http://www.w3.org/2001/XMLSchema" xmlns:p="http://schemas.microsoft.com/office/2006/metadata/properties" xmlns:ns3="7b814fa0-4f1b-4d56-8a36-064af1e36e66" xmlns:ns4="b1fa7ccf-aa4f-4f27-84db-07667d020acb" targetNamespace="http://schemas.microsoft.com/office/2006/metadata/properties" ma:root="true" ma:fieldsID="fe3adeea5df1e60fd0d7c7fb86895927" ns3:_="" ns4:_="">
    <xsd:import namespace="7b814fa0-4f1b-4d56-8a36-064af1e36e66"/>
    <xsd:import namespace="b1fa7ccf-aa4f-4f27-84db-07667d020ac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814fa0-4f1b-4d56-8a36-064af1e36e66"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fa7ccf-aa4f-4f27-84db-07667d020a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BF3923-D9E5-4962-BBB8-690B0ABC4F42}">
  <ds:schemaRefs>
    <ds:schemaRef ds:uri="http://www.w3.org/XML/1998/namespace"/>
    <ds:schemaRef ds:uri="b1fa7ccf-aa4f-4f27-84db-07667d020acb"/>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7b814fa0-4f1b-4d56-8a36-064af1e36e66"/>
    <ds:schemaRef ds:uri="http://purl.org/dc/dcmitype/"/>
    <ds:schemaRef ds:uri="http://purl.org/dc/terms/"/>
  </ds:schemaRefs>
</ds:datastoreItem>
</file>

<file path=customXml/itemProps2.xml><?xml version="1.0" encoding="utf-8"?>
<ds:datastoreItem xmlns:ds="http://schemas.openxmlformats.org/officeDocument/2006/customXml" ds:itemID="{04171512-FDE1-4E49-B7EA-58AD2B333724}">
  <ds:schemaRefs>
    <ds:schemaRef ds:uri="http://schemas.microsoft.com/sharepoint/v3/contenttype/forms"/>
  </ds:schemaRefs>
</ds:datastoreItem>
</file>

<file path=customXml/itemProps3.xml><?xml version="1.0" encoding="utf-8"?>
<ds:datastoreItem xmlns:ds="http://schemas.openxmlformats.org/officeDocument/2006/customXml" ds:itemID="{E77A2FCE-FB77-4A2D-98B9-B8BD51BEE8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814fa0-4f1b-4d56-8a36-064af1e36e66"/>
    <ds:schemaRef ds:uri="b1fa7ccf-aa4f-4f27-84db-07667d020a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7774</TotalTime>
  <Words>286</Words>
  <Application>Microsoft Office PowerPoint</Application>
  <PresentationFormat>Panorámica</PresentationFormat>
  <Paragraphs>46</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Neue Haas Grotesk Text Pro</vt:lpstr>
      <vt:lpstr>AccentBoxVTI</vt:lpstr>
      <vt:lpstr>Enginyeria del Software</vt:lpstr>
      <vt:lpstr>Composició de l’equip </vt:lpstr>
      <vt:lpstr>Tasques fetes al sprint</vt:lpstr>
      <vt:lpstr>Perfils d’usuari a l’aplicació QUEMENGES</vt:lpstr>
      <vt:lpstr>Requisits</vt:lpstr>
      <vt:lpstr>Burn-down chart</vt:lpstr>
      <vt:lpstr>Enginyeria del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Enginyeria del Software</dc:title>
  <dc:creator>Jorge Bernal del Nozal</dc:creator>
  <cp:lastModifiedBy>Jorge Bernal del Nozal</cp:lastModifiedBy>
  <cp:revision>34</cp:revision>
  <dcterms:created xsi:type="dcterms:W3CDTF">2023-02-10T08:32:17Z</dcterms:created>
  <dcterms:modified xsi:type="dcterms:W3CDTF">2025-03-11T10:53:19Z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0x01010063BD3DC6F0E81D4FA56575A4B7B24AF5</vt:lpwstr>
  </property>
  <property fmtid="{D5CDD505-2E9C-101B-9397-08002B2CF9AE}" pid="3" name="Order">
    <vt:r8>1700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ies>
</file>